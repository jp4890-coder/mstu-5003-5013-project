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5143500" type="screen16x9"/>
  <p:notesSz cx="6858000" cy="9144000"/>
  <p:embeddedFontLst>
    <p:embeddedFont>
      <p:font typeface="Lexend" pitchFamily="2" charset="77"/>
      <p:regular r:id="rId16"/>
      <p:bold r:id="rId17"/>
    </p:embeddedFont>
    <p:embeddedFont>
      <p:font typeface="Roboto Mono" pitchFamily="49" charset="0"/>
      <p:regular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5CC113A-610D-4ABE-A293-871B59C60E40}">
  <a:tblStyle styleId="{E5CC113A-610D-4ABE-A293-871B59C60E4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94646"/>
  </p:normalViewPr>
  <p:slideViewPr>
    <p:cSldViewPr snapToGrid="0">
      <p:cViewPr varScale="1">
        <p:scale>
          <a:sx n="144" d="100"/>
          <a:sy n="144" d="100"/>
        </p:scale>
        <p:origin x="744" y="19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f55c5de0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360"/>
              </a:spcBef>
              <a:spcAft>
                <a:spcPts val="0"/>
              </a:spcAft>
              <a:buClr>
                <a:schemeClr val="dk1"/>
              </a:buClr>
              <a:buSzPts val="1100"/>
              <a:buFont typeface="Arial"/>
              <a:buNone/>
            </a:pPr>
            <a:endParaRPr>
              <a:solidFill>
                <a:schemeClr val="dk1"/>
              </a:solidFill>
            </a:endParaRPr>
          </a:p>
        </p:txBody>
      </p:sp>
      <p:sp>
        <p:nvSpPr>
          <p:cNvPr id="58" name="Google Shape;58;g2f55c5de016_0_0: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2fb6e0dd441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 name="Google Shape;65;g2fb6e0dd441_0_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f55be9818e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f55be9818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00"/>
              <a:buFont typeface="Arial"/>
              <a:buNone/>
            </a:pPr>
            <a:endParaRPr sz="1200">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65159e3a7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65159e3a7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400"/>
              <a:buFont typeface="Arial"/>
              <a:buNone/>
            </a:pP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2f55be9818e_0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2f55be9818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f55be9818e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f55be9818e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65159e3a7b_0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g365159e3a7b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651cdebc44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1D1C1D"/>
              </a:solidFill>
            </a:endParaRPr>
          </a:p>
        </p:txBody>
      </p:sp>
      <p:sp>
        <p:nvSpPr>
          <p:cNvPr id="118" name="Google Shape;118;g3651cdebc44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3fa72f9e405_1_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g3fa72f9e405_1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fa72f9e405_1_25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g3fa72f9e405_1_25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3f8cca9efa7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endParaRPr>
          </a:p>
        </p:txBody>
      </p:sp>
      <p:sp>
        <p:nvSpPr>
          <p:cNvPr id="157" name="Google Shape;157;g3f8cca9efa7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fa72f9e405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g3fa72f9e40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651cdebc44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endParaRPr sz="1150">
              <a:solidFill>
                <a:srgbClr val="1D1C1D"/>
              </a:solidFill>
              <a:highlight>
                <a:srgbClr val="F8F8F8"/>
              </a:highlight>
            </a:endParaRPr>
          </a:p>
        </p:txBody>
      </p:sp>
      <p:sp>
        <p:nvSpPr>
          <p:cNvPr id="172" name="Google Shape;172;g3651cdebc44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9"/>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200" y="1200151"/>
            <a:ext cx="8229600" cy="3394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1200"/>
              </a:spcBef>
              <a:spcAft>
                <a:spcPts val="0"/>
              </a:spcAft>
              <a:buClr>
                <a:schemeClr val="dk1"/>
              </a:buClr>
              <a:buSzPts val="1800"/>
              <a:buChar char="○"/>
              <a:defRPr/>
            </a:lvl2pPr>
            <a:lvl3pPr marL="1371600" lvl="2" indent="-342900" algn="l" rtl="0">
              <a:spcBef>
                <a:spcPts val="1200"/>
              </a:spcBef>
              <a:spcAft>
                <a:spcPts val="0"/>
              </a:spcAft>
              <a:buClr>
                <a:schemeClr val="dk1"/>
              </a:buClr>
              <a:buSzPts val="1800"/>
              <a:buChar char="■"/>
              <a:defRPr/>
            </a:lvl3pPr>
            <a:lvl4pPr marL="1828800" lvl="3" indent="-342900" algn="l" rtl="0">
              <a:spcBef>
                <a:spcPts val="1200"/>
              </a:spcBef>
              <a:spcAft>
                <a:spcPts val="0"/>
              </a:spcAft>
              <a:buClr>
                <a:schemeClr val="dk1"/>
              </a:buClr>
              <a:buSzPts val="1800"/>
              <a:buChar char="●"/>
              <a:defRPr/>
            </a:lvl4pPr>
            <a:lvl5pPr marL="2286000" lvl="4" indent="-342900" algn="l" rtl="0">
              <a:spcBef>
                <a:spcPts val="1200"/>
              </a:spcBef>
              <a:spcAft>
                <a:spcPts val="0"/>
              </a:spcAft>
              <a:buClr>
                <a:schemeClr val="dk1"/>
              </a:buClr>
              <a:buSzPts val="1800"/>
              <a:buChar char="○"/>
              <a:defRPr/>
            </a:lvl5pPr>
            <a:lvl6pPr marL="2743200" lvl="5" indent="-342900" algn="l" rtl="0">
              <a:spcBef>
                <a:spcPts val="1200"/>
              </a:spcBef>
              <a:spcAft>
                <a:spcPts val="0"/>
              </a:spcAft>
              <a:buClr>
                <a:schemeClr val="dk1"/>
              </a:buClr>
              <a:buSzPts val="1800"/>
              <a:buChar char="■"/>
              <a:defRPr/>
            </a:lvl6pPr>
            <a:lvl7pPr marL="3200400" lvl="6" indent="-342900" algn="l" rtl="0">
              <a:spcBef>
                <a:spcPts val="1200"/>
              </a:spcBef>
              <a:spcAft>
                <a:spcPts val="0"/>
              </a:spcAft>
              <a:buClr>
                <a:schemeClr val="dk1"/>
              </a:buClr>
              <a:buSzPts val="1800"/>
              <a:buChar char="●"/>
              <a:defRPr/>
            </a:lvl7pPr>
            <a:lvl8pPr marL="3657600" lvl="7" indent="-342900" algn="l" rtl="0">
              <a:spcBef>
                <a:spcPts val="1200"/>
              </a:spcBef>
              <a:spcAft>
                <a:spcPts val="0"/>
              </a:spcAft>
              <a:buClr>
                <a:schemeClr val="dk1"/>
              </a:buClr>
              <a:buSzPts val="1800"/>
              <a:buChar char="○"/>
              <a:defRPr/>
            </a:lvl8pPr>
            <a:lvl9pPr marL="4114800" lvl="8" indent="-342900" algn="l" rtl="0">
              <a:spcBef>
                <a:spcPts val="1200"/>
              </a:spcBef>
              <a:spcAft>
                <a:spcPts val="1200"/>
              </a:spcAft>
              <a:buClr>
                <a:schemeClr val="dk1"/>
              </a:buClr>
              <a:buSzPts val="1800"/>
              <a:buChar char="■"/>
              <a:defRPr/>
            </a:lvl9pPr>
          </a:lstStyle>
          <a:p>
            <a:endParaRPr/>
          </a:p>
        </p:txBody>
      </p:sp>
      <p:sp>
        <p:nvSpPr>
          <p:cNvPr id="53" name="Google Shape;53;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8" Type="http://schemas.openxmlformats.org/officeDocument/2006/relationships/hyperlink" Target="http://www.youtube.com/watch?v=-sC3KifeRyE" TargetMode="External"/><Relationship Id="rId3" Type="http://schemas.openxmlformats.org/officeDocument/2006/relationships/image" Target="../media/image3.png"/><Relationship Id="rId7" Type="http://schemas.openxmlformats.org/officeDocument/2006/relationships/image" Target="../media/image6.jpg"/><Relationship Id="rId12"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hyperlink" Target="http://drive.google.com/file/d/1OS0yJBBQj2TpgP9u6GD7dbVLPe_xHrcM/view" TargetMode="External"/><Relationship Id="rId11" Type="http://schemas.openxmlformats.org/officeDocument/2006/relationships/hyperlink" Target="https://ivadream.com/aniland/" TargetMode="External"/><Relationship Id="rId5" Type="http://schemas.openxmlformats.org/officeDocument/2006/relationships/image" Target="../media/image5.jpg"/><Relationship Id="rId10" Type="http://schemas.openxmlformats.org/officeDocument/2006/relationships/image" Target="../media/image8.png"/><Relationship Id="rId4" Type="http://schemas.openxmlformats.org/officeDocument/2006/relationships/image" Target="../media/image4.jpg"/><Relationship Id="rId9" Type="http://schemas.openxmlformats.org/officeDocument/2006/relationships/image" Target="../media/image7.jpg"/></Relationships>
</file>

<file path=ppt/slides/_rels/slide3.xml.rels><?xml version="1.0" encoding="UTF-8" standalone="yes"?>
<Relationships xmlns="http://schemas.openxmlformats.org/package/2006/relationships"><Relationship Id="rId3" Type="http://schemas.openxmlformats.org/officeDocument/2006/relationships/hyperlink" Target="https://shorturl.at/Dz4ko" TargetMode="External"/><Relationship Id="rId7" Type="http://schemas.openxmlformats.org/officeDocument/2006/relationships/hyperlink" Target="https://shorturl.at/m0MKa"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0.png"/><Relationship Id="rId5" Type="http://schemas.openxmlformats.org/officeDocument/2006/relationships/hyperlink" Target="https://docs.google.com/document/d/1ajo0jfkVjDd2n-7WeZtHc7EUw1koGHfGF1Zo8VuURb0/edit?tab=t.1olyrzfod261" TargetMode="External"/><Relationship Id="rId4" Type="http://schemas.openxmlformats.org/officeDocument/2006/relationships/hyperlink" Target="https://teacherscollege.zoom.us/j/96948438140"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hyperlink" Target="https://tinyurl.com/yx22u38j" TargetMode="External"/><Relationship Id="rId5" Type="http://schemas.openxmlformats.org/officeDocument/2006/relationships/hyperlink" Target="https://tinyurl.com/362u2t65" TargetMode="External"/><Relationship Id="rId4" Type="http://schemas.openxmlformats.org/officeDocument/2006/relationships/hyperlink" Target="http://figma.com/education/apply"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shorturl.at/KdkLF"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pic>
        <p:nvPicPr>
          <p:cNvPr id="60" name="Google Shape;60;p14" descr="TCCU_blue_backgrounds_revlogo_16-99.jpg"/>
          <p:cNvPicPr preferRelativeResize="0"/>
          <p:nvPr/>
        </p:nvPicPr>
        <p:blipFill rotWithShape="1">
          <a:blip r:embed="rId3">
            <a:alphaModFix/>
          </a:blip>
          <a:srcRect/>
          <a:stretch/>
        </p:blipFill>
        <p:spPr>
          <a:xfrm>
            <a:off x="0" y="0"/>
            <a:ext cx="9130474" cy="5143500"/>
          </a:xfrm>
          <a:prstGeom prst="rect">
            <a:avLst/>
          </a:prstGeom>
          <a:noFill/>
          <a:ln>
            <a:noFill/>
          </a:ln>
        </p:spPr>
      </p:pic>
      <p:sp>
        <p:nvSpPr>
          <p:cNvPr id="61" name="Google Shape;61;p14"/>
          <p:cNvSpPr txBox="1"/>
          <p:nvPr/>
        </p:nvSpPr>
        <p:spPr>
          <a:xfrm>
            <a:off x="129775" y="1108600"/>
            <a:ext cx="3990000" cy="2664900"/>
          </a:xfrm>
          <a:prstGeom prst="rect">
            <a:avLst/>
          </a:prstGeom>
          <a:noFill/>
          <a:ln>
            <a:noFill/>
          </a:ln>
        </p:spPr>
        <p:txBody>
          <a:bodyPr spcFirstLastPara="1" wrap="square" lIns="91425" tIns="45700" rIns="91425" bIns="45700" anchor="t" anchorCtr="0">
            <a:noAutofit/>
          </a:bodyPr>
          <a:lstStyle/>
          <a:p>
            <a:pPr marL="0" marR="0" lvl="0" indent="0" algn="ctr" rtl="0">
              <a:spcBef>
                <a:spcPts val="360"/>
              </a:spcBef>
              <a:spcAft>
                <a:spcPts val="0"/>
              </a:spcAft>
              <a:buSzPts val="1100"/>
              <a:buNone/>
            </a:pPr>
            <a:r>
              <a:rPr lang="en" sz="2100" b="1">
                <a:solidFill>
                  <a:schemeClr val="dk1"/>
                </a:solidFill>
                <a:latin typeface="Calibri"/>
                <a:ea typeface="Calibri"/>
                <a:cs typeface="Calibri"/>
                <a:sym typeface="Calibri"/>
              </a:rPr>
              <a:t>Fall 2026 MSTU5013 Lab</a:t>
            </a:r>
            <a:endParaRPr sz="2100" b="1">
              <a:solidFill>
                <a:schemeClr val="dk1"/>
              </a:solidFill>
              <a:latin typeface="Calibri"/>
              <a:ea typeface="Calibri"/>
              <a:cs typeface="Calibri"/>
              <a:sym typeface="Calibri"/>
            </a:endParaRPr>
          </a:p>
          <a:p>
            <a:pPr marL="0" lvl="0" indent="0" algn="ctr" rtl="0">
              <a:spcBef>
                <a:spcPts val="360"/>
              </a:spcBef>
              <a:spcAft>
                <a:spcPts val="0"/>
              </a:spcAft>
              <a:buSzPts val="1100"/>
              <a:buNone/>
            </a:pPr>
            <a:r>
              <a:rPr lang="en" sz="2200" b="1">
                <a:solidFill>
                  <a:schemeClr val="dk1"/>
                </a:solidFill>
                <a:latin typeface="Calibri"/>
                <a:ea typeface="Calibri"/>
                <a:cs typeface="Calibri"/>
                <a:sym typeface="Calibri"/>
              </a:rPr>
              <a:t>Week 1: Introduction</a:t>
            </a:r>
            <a:endParaRPr sz="2200" b="1">
              <a:solidFill>
                <a:schemeClr val="dk1"/>
              </a:solidFill>
              <a:latin typeface="Calibri"/>
              <a:ea typeface="Calibri"/>
              <a:cs typeface="Calibri"/>
              <a:sym typeface="Calibri"/>
            </a:endParaRPr>
          </a:p>
          <a:p>
            <a:pPr marL="0" marR="0" lvl="0" indent="0" algn="ctr" rtl="0">
              <a:spcBef>
                <a:spcPts val="360"/>
              </a:spcBef>
              <a:spcAft>
                <a:spcPts val="0"/>
              </a:spcAft>
              <a:buSzPts val="1100"/>
              <a:buNone/>
            </a:pPr>
            <a:endParaRPr sz="600">
              <a:solidFill>
                <a:schemeClr val="dk1"/>
              </a:solidFill>
              <a:latin typeface="Calibri"/>
              <a:ea typeface="Calibri"/>
              <a:cs typeface="Calibri"/>
              <a:sym typeface="Calibri"/>
            </a:endParaRPr>
          </a:p>
          <a:p>
            <a:pPr marL="0" marR="0" lvl="0" indent="0" algn="ctr" rtl="0">
              <a:spcBef>
                <a:spcPts val="360"/>
              </a:spcBef>
              <a:spcAft>
                <a:spcPts val="0"/>
              </a:spcAft>
              <a:buNone/>
            </a:pPr>
            <a:endParaRPr sz="1800">
              <a:solidFill>
                <a:srgbClr val="17375E"/>
              </a:solidFill>
              <a:latin typeface="Calibri"/>
              <a:ea typeface="Calibri"/>
              <a:cs typeface="Calibri"/>
              <a:sym typeface="Calibri"/>
            </a:endParaRPr>
          </a:p>
          <a:p>
            <a:pPr marL="0" marR="0" lvl="0" indent="0" algn="ctr" rtl="0">
              <a:spcBef>
                <a:spcPts val="360"/>
              </a:spcBef>
              <a:spcAft>
                <a:spcPts val="0"/>
              </a:spcAft>
              <a:buClr>
                <a:schemeClr val="dk1"/>
              </a:buClr>
              <a:buSzPts val="1100"/>
              <a:buFont typeface="Arial"/>
              <a:buNone/>
            </a:pPr>
            <a:r>
              <a:rPr lang="en" sz="1800">
                <a:solidFill>
                  <a:srgbClr val="17375E"/>
                </a:solidFill>
                <a:latin typeface="Calibri"/>
                <a:ea typeface="Calibri"/>
                <a:cs typeface="Calibri"/>
                <a:sym typeface="Calibri"/>
              </a:rPr>
              <a:t>Instructor: Iva Li, PhD</a:t>
            </a:r>
            <a:endParaRPr sz="1800">
              <a:solidFill>
                <a:srgbClr val="17375E"/>
              </a:solidFill>
              <a:latin typeface="Calibri"/>
              <a:ea typeface="Calibri"/>
              <a:cs typeface="Calibri"/>
              <a:sym typeface="Calibri"/>
            </a:endParaRPr>
          </a:p>
          <a:p>
            <a:pPr marL="0" marR="0" lvl="0" indent="0" algn="ctr" rtl="0">
              <a:spcBef>
                <a:spcPts val="360"/>
              </a:spcBef>
              <a:spcAft>
                <a:spcPts val="0"/>
              </a:spcAft>
              <a:buClr>
                <a:schemeClr val="dk1"/>
              </a:buClr>
              <a:buSzPts val="1100"/>
              <a:buFont typeface="Arial"/>
              <a:buNone/>
            </a:pPr>
            <a:r>
              <a:rPr lang="en" sz="1800">
                <a:solidFill>
                  <a:srgbClr val="17375E"/>
                </a:solidFill>
                <a:latin typeface="Calibri"/>
                <a:ea typeface="Calibri"/>
                <a:cs typeface="Calibri"/>
                <a:sym typeface="Calibri"/>
              </a:rPr>
              <a:t>CA: Zi Wang</a:t>
            </a:r>
            <a:endParaRPr sz="1800">
              <a:solidFill>
                <a:srgbClr val="17375E"/>
              </a:solidFill>
              <a:latin typeface="Calibri"/>
              <a:ea typeface="Calibri"/>
              <a:cs typeface="Calibri"/>
              <a:sym typeface="Calibri"/>
            </a:endParaRPr>
          </a:p>
          <a:p>
            <a:pPr marL="0" marR="0" lvl="0" indent="0" algn="ctr" rtl="0">
              <a:spcBef>
                <a:spcPts val="360"/>
              </a:spcBef>
              <a:spcAft>
                <a:spcPts val="0"/>
              </a:spcAft>
              <a:buClr>
                <a:schemeClr val="dk1"/>
              </a:buClr>
              <a:buSzPts val="1100"/>
              <a:buFont typeface="Arial"/>
              <a:buNone/>
            </a:pPr>
            <a:endParaRPr sz="1800">
              <a:solidFill>
                <a:srgbClr val="17375E"/>
              </a:solidFill>
              <a:latin typeface="Calibri"/>
              <a:ea typeface="Calibri"/>
              <a:cs typeface="Calibri"/>
              <a:sym typeface="Calibri"/>
            </a:endParaRPr>
          </a:p>
          <a:p>
            <a:pPr marL="0" marR="0" lvl="0" indent="0" algn="ctr" rtl="0">
              <a:spcBef>
                <a:spcPts val="360"/>
              </a:spcBef>
              <a:spcAft>
                <a:spcPts val="0"/>
              </a:spcAft>
              <a:buNone/>
            </a:pPr>
            <a:endParaRPr sz="1800">
              <a:solidFill>
                <a:srgbClr val="17375E"/>
              </a:solidFill>
              <a:latin typeface="Calibri"/>
              <a:ea typeface="Calibri"/>
              <a:cs typeface="Calibri"/>
              <a:sym typeface="Calibri"/>
            </a:endParaRPr>
          </a:p>
        </p:txBody>
      </p:sp>
      <p:pic>
        <p:nvPicPr>
          <p:cNvPr id="62" name="Google Shape;62;p14"/>
          <p:cNvPicPr preferRelativeResize="0"/>
          <p:nvPr/>
        </p:nvPicPr>
        <p:blipFill>
          <a:blip r:embed="rId4">
            <a:alphaModFix/>
          </a:blip>
          <a:stretch>
            <a:fillRect/>
          </a:stretch>
        </p:blipFill>
        <p:spPr>
          <a:xfrm>
            <a:off x="5028200" y="990351"/>
            <a:ext cx="3231248" cy="278314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6"/>
        <p:cNvGrpSpPr/>
        <p:nvPr/>
      </p:nvGrpSpPr>
      <p:grpSpPr>
        <a:xfrm>
          <a:off x="0" y="0"/>
          <a:ext cx="0" cy="0"/>
          <a:chOff x="0" y="0"/>
          <a:chExt cx="0" cy="0"/>
        </a:xfrm>
      </p:grpSpPr>
      <p:pic>
        <p:nvPicPr>
          <p:cNvPr id="67" name="Google Shape;67;p15"/>
          <p:cNvPicPr preferRelativeResize="0"/>
          <p:nvPr/>
        </p:nvPicPr>
        <p:blipFill rotWithShape="1">
          <a:blip r:embed="rId3">
            <a:alphaModFix/>
          </a:blip>
          <a:srcRect/>
          <a:stretch/>
        </p:blipFill>
        <p:spPr>
          <a:xfrm>
            <a:off x="4867088" y="2773144"/>
            <a:ext cx="3554624" cy="2223263"/>
          </a:xfrm>
          <a:prstGeom prst="rect">
            <a:avLst/>
          </a:prstGeom>
          <a:noFill/>
          <a:ln>
            <a:noFill/>
          </a:ln>
        </p:spPr>
      </p:pic>
      <p:pic>
        <p:nvPicPr>
          <p:cNvPr id="68" name="Google Shape;68;p15"/>
          <p:cNvPicPr preferRelativeResize="0"/>
          <p:nvPr/>
        </p:nvPicPr>
        <p:blipFill>
          <a:blip r:embed="rId4">
            <a:alphaModFix/>
          </a:blip>
          <a:stretch>
            <a:fillRect/>
          </a:stretch>
        </p:blipFill>
        <p:spPr>
          <a:xfrm>
            <a:off x="4625201" y="2773150"/>
            <a:ext cx="3814068" cy="2223250"/>
          </a:xfrm>
          <a:prstGeom prst="rect">
            <a:avLst/>
          </a:prstGeom>
          <a:noFill/>
          <a:ln>
            <a:noFill/>
          </a:ln>
        </p:spPr>
      </p:pic>
      <p:pic>
        <p:nvPicPr>
          <p:cNvPr id="69" name="Google Shape;69;p15"/>
          <p:cNvPicPr preferRelativeResize="0"/>
          <p:nvPr/>
        </p:nvPicPr>
        <p:blipFill rotWithShape="1">
          <a:blip r:embed="rId5">
            <a:alphaModFix/>
          </a:blip>
          <a:srcRect t="4255" b="4438"/>
          <a:stretch/>
        </p:blipFill>
        <p:spPr>
          <a:xfrm>
            <a:off x="1650" y="2098921"/>
            <a:ext cx="4442625" cy="3044579"/>
          </a:xfrm>
          <a:prstGeom prst="rect">
            <a:avLst/>
          </a:prstGeom>
          <a:noFill/>
          <a:ln>
            <a:noFill/>
          </a:ln>
        </p:spPr>
      </p:pic>
      <p:pic>
        <p:nvPicPr>
          <p:cNvPr id="70" name="Google Shape;70;p15" title="manzana.mp4">
            <a:hlinkClick r:id="rId6"/>
          </p:cNvPr>
          <p:cNvPicPr preferRelativeResize="0"/>
          <p:nvPr/>
        </p:nvPicPr>
        <p:blipFill>
          <a:blip r:embed="rId7">
            <a:alphaModFix/>
          </a:blip>
          <a:stretch>
            <a:fillRect/>
          </a:stretch>
        </p:blipFill>
        <p:spPr>
          <a:xfrm>
            <a:off x="4508475" y="2228375"/>
            <a:ext cx="4572000" cy="3429000"/>
          </a:xfrm>
          <a:prstGeom prst="rect">
            <a:avLst/>
          </a:prstGeom>
          <a:noFill/>
          <a:ln>
            <a:noFill/>
          </a:ln>
        </p:spPr>
      </p:pic>
      <p:pic>
        <p:nvPicPr>
          <p:cNvPr id="71" name="Google Shape;71;p15" descr="Park&#10;Parque&#10;공원&#10;&#10;© 2021 Iva Li. All rights reserved" title="Gogo MonsterKids - Park">
            <a:hlinkClick r:id="rId8"/>
          </p:cNvPr>
          <p:cNvPicPr preferRelativeResize="0"/>
          <p:nvPr/>
        </p:nvPicPr>
        <p:blipFill>
          <a:blip r:embed="rId9">
            <a:alphaModFix/>
          </a:blip>
          <a:stretch>
            <a:fillRect/>
          </a:stretch>
        </p:blipFill>
        <p:spPr>
          <a:xfrm>
            <a:off x="4340725" y="0"/>
            <a:ext cx="4755100" cy="2674759"/>
          </a:xfrm>
          <a:prstGeom prst="rect">
            <a:avLst/>
          </a:prstGeom>
          <a:noFill/>
          <a:ln>
            <a:noFill/>
          </a:ln>
        </p:spPr>
      </p:pic>
      <p:pic>
        <p:nvPicPr>
          <p:cNvPr id="72" name="Google Shape;72;p15" title="Screen Shot 2025-08-30 at 10.17.53 AM.png"/>
          <p:cNvPicPr preferRelativeResize="0"/>
          <p:nvPr/>
        </p:nvPicPr>
        <p:blipFill>
          <a:blip r:embed="rId10">
            <a:alphaModFix/>
          </a:blip>
          <a:stretch>
            <a:fillRect/>
          </a:stretch>
        </p:blipFill>
        <p:spPr>
          <a:xfrm>
            <a:off x="-28525" y="0"/>
            <a:ext cx="4472800" cy="2485621"/>
          </a:xfrm>
          <a:prstGeom prst="rect">
            <a:avLst/>
          </a:prstGeom>
          <a:noFill/>
          <a:ln>
            <a:noFill/>
          </a:ln>
        </p:spPr>
      </p:pic>
      <p:pic>
        <p:nvPicPr>
          <p:cNvPr id="73" name="Google Shape;73;p15">
            <a:hlinkClick r:id="rId11"/>
          </p:cNvPr>
          <p:cNvPicPr preferRelativeResize="0"/>
          <p:nvPr/>
        </p:nvPicPr>
        <p:blipFill rotWithShape="1">
          <a:blip r:embed="rId12">
            <a:alphaModFix/>
          </a:blip>
          <a:srcRect l="17183" t="8983" r="39480" b="14699"/>
          <a:stretch/>
        </p:blipFill>
        <p:spPr>
          <a:xfrm>
            <a:off x="0" y="4067325"/>
            <a:ext cx="1345601" cy="107617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10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10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3874"/>
            <a:ext cx="2808000" cy="75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latin typeface="Calibri"/>
                <a:ea typeface="Calibri"/>
                <a:cs typeface="Calibri"/>
                <a:sym typeface="Calibri"/>
              </a:rPr>
              <a:t>Syllabus Review</a:t>
            </a:r>
            <a:endParaRPr>
              <a:latin typeface="Calibri"/>
              <a:ea typeface="Calibri"/>
              <a:cs typeface="Calibri"/>
              <a:sym typeface="Calibri"/>
            </a:endParaRPr>
          </a:p>
        </p:txBody>
      </p:sp>
      <p:sp>
        <p:nvSpPr>
          <p:cNvPr id="79" name="Google Shape;79;p16"/>
          <p:cNvSpPr txBox="1">
            <a:spLocks noGrp="1"/>
          </p:cNvSpPr>
          <p:nvPr>
            <p:ph type="body" idx="1"/>
          </p:nvPr>
        </p:nvSpPr>
        <p:spPr>
          <a:xfrm>
            <a:off x="311700" y="877874"/>
            <a:ext cx="2808000" cy="3179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b="1">
                <a:solidFill>
                  <a:schemeClr val="dk1"/>
                </a:solidFill>
                <a:highlight>
                  <a:schemeClr val="lt1"/>
                </a:highlight>
              </a:rPr>
              <a:t>Lecture</a:t>
            </a:r>
            <a:r>
              <a:rPr lang="en">
                <a:solidFill>
                  <a:schemeClr val="dk1"/>
                </a:solidFill>
                <a:highlight>
                  <a:schemeClr val="lt1"/>
                </a:highlight>
              </a:rPr>
              <a:t>: Fundamental Concepts</a:t>
            </a:r>
            <a:endParaRPr>
              <a:solidFill>
                <a:schemeClr val="dk1"/>
              </a:solidFill>
              <a:highlight>
                <a:schemeClr val="lt1"/>
              </a:highlight>
            </a:endParaRPr>
          </a:p>
          <a:p>
            <a:pPr marL="0" lvl="0" indent="0" algn="l" rtl="0">
              <a:spcBef>
                <a:spcPts val="1200"/>
              </a:spcBef>
              <a:spcAft>
                <a:spcPts val="1200"/>
              </a:spcAft>
              <a:buNone/>
            </a:pPr>
            <a:r>
              <a:rPr lang="en" b="1">
                <a:solidFill>
                  <a:schemeClr val="dk1"/>
                </a:solidFill>
                <a:highlight>
                  <a:schemeClr val="lt1"/>
                </a:highlight>
              </a:rPr>
              <a:t>Lab: </a:t>
            </a:r>
            <a:r>
              <a:rPr lang="en">
                <a:solidFill>
                  <a:schemeClr val="dk1"/>
                </a:solidFill>
                <a:highlight>
                  <a:schemeClr val="lt1"/>
                </a:highlight>
              </a:rPr>
              <a:t>Skills and Support</a:t>
            </a:r>
            <a:endParaRPr/>
          </a:p>
        </p:txBody>
      </p:sp>
      <p:sp>
        <p:nvSpPr>
          <p:cNvPr id="80" name="Google Shape;80;p16"/>
          <p:cNvSpPr txBox="1">
            <a:spLocks noGrp="1"/>
          </p:cNvSpPr>
          <p:nvPr>
            <p:ph type="title"/>
          </p:nvPr>
        </p:nvSpPr>
        <p:spPr>
          <a:xfrm>
            <a:off x="311700" y="1832549"/>
            <a:ext cx="2808000" cy="75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latin typeface="Calibri"/>
                <a:ea typeface="Calibri"/>
                <a:cs typeface="Calibri"/>
                <a:sym typeface="Calibri"/>
              </a:rPr>
              <a:t>Office Hours</a:t>
            </a:r>
            <a:endParaRPr>
              <a:latin typeface="Calibri"/>
              <a:ea typeface="Calibri"/>
              <a:cs typeface="Calibri"/>
              <a:sym typeface="Calibri"/>
            </a:endParaRPr>
          </a:p>
        </p:txBody>
      </p:sp>
      <p:sp>
        <p:nvSpPr>
          <p:cNvPr id="81" name="Google Shape;81;p16"/>
          <p:cNvSpPr txBox="1">
            <a:spLocks noGrp="1"/>
          </p:cNvSpPr>
          <p:nvPr>
            <p:ph type="body" idx="1"/>
          </p:nvPr>
        </p:nvSpPr>
        <p:spPr>
          <a:xfrm>
            <a:off x="311700" y="2705913"/>
            <a:ext cx="2808000" cy="3179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r>
              <a:rPr lang="en" b="1">
                <a:solidFill>
                  <a:schemeClr val="dk1"/>
                </a:solidFill>
                <a:highlight>
                  <a:schemeClr val="lt1"/>
                </a:highlight>
              </a:rPr>
              <a:t>Iva: Fridays 12-1pm</a:t>
            </a:r>
            <a:br>
              <a:rPr lang="en" b="1">
                <a:solidFill>
                  <a:schemeClr val="dk1"/>
                </a:solidFill>
                <a:highlight>
                  <a:schemeClr val="lt1"/>
                </a:highlight>
              </a:rPr>
            </a:br>
            <a:r>
              <a:rPr lang="en" b="1" u="sng">
                <a:solidFill>
                  <a:schemeClr val="hlink"/>
                </a:solidFill>
                <a:highlight>
                  <a:schemeClr val="lt1"/>
                </a:highlight>
                <a:hlinkClick r:id="rId3"/>
              </a:rPr>
              <a:t>https://shorturl.at/Dz4ko</a:t>
            </a:r>
            <a:br>
              <a:rPr lang="en" b="1">
                <a:solidFill>
                  <a:schemeClr val="dk1"/>
                </a:solidFill>
                <a:highlight>
                  <a:schemeClr val="lt1"/>
                </a:highlight>
              </a:rPr>
            </a:br>
            <a:br>
              <a:rPr lang="en" b="1">
                <a:solidFill>
                  <a:schemeClr val="dk1"/>
                </a:solidFill>
                <a:highlight>
                  <a:schemeClr val="lt1"/>
                </a:highlight>
              </a:rPr>
            </a:br>
            <a:r>
              <a:rPr lang="en" b="1">
                <a:solidFill>
                  <a:schemeClr val="dk1"/>
                </a:solidFill>
                <a:highlight>
                  <a:schemeClr val="lt1"/>
                </a:highlight>
              </a:rPr>
              <a:t>Zi: Thursdays 1:30-2:30pm</a:t>
            </a:r>
            <a:br>
              <a:rPr lang="en" b="1">
                <a:solidFill>
                  <a:schemeClr val="dk1"/>
                </a:solidFill>
                <a:highlight>
                  <a:schemeClr val="lt1"/>
                </a:highlight>
              </a:rPr>
            </a:br>
            <a:r>
              <a:rPr lang="en" b="1" u="sng">
                <a:solidFill>
                  <a:schemeClr val="hlink"/>
                </a:solidFill>
                <a:highlight>
                  <a:schemeClr val="lt1"/>
                </a:highlight>
                <a:hlinkClick r:id="rId4"/>
              </a:rPr>
              <a:t>https://teacherscollege.zoom.us/j/96948438140</a:t>
            </a:r>
            <a:br>
              <a:rPr lang="en" b="1">
                <a:solidFill>
                  <a:schemeClr val="dk1"/>
                </a:solidFill>
                <a:highlight>
                  <a:schemeClr val="lt1"/>
                </a:highlight>
              </a:rPr>
            </a:br>
            <a:endParaRPr/>
          </a:p>
        </p:txBody>
      </p:sp>
      <p:pic>
        <p:nvPicPr>
          <p:cNvPr id="82" name="Google Shape;82;p16" title="syllabus.png">
            <a:hlinkClick r:id="rId5"/>
          </p:cNvPr>
          <p:cNvPicPr preferRelativeResize="0"/>
          <p:nvPr/>
        </p:nvPicPr>
        <p:blipFill rotWithShape="1">
          <a:blip r:embed="rId6">
            <a:alphaModFix/>
          </a:blip>
          <a:srcRect l="14541" t="19659" r="13116"/>
          <a:stretch/>
        </p:blipFill>
        <p:spPr>
          <a:xfrm>
            <a:off x="3778142" y="355375"/>
            <a:ext cx="5067987" cy="4788125"/>
          </a:xfrm>
          <a:prstGeom prst="rect">
            <a:avLst/>
          </a:prstGeom>
          <a:noFill/>
          <a:ln>
            <a:noFill/>
          </a:ln>
        </p:spPr>
      </p:pic>
      <p:sp>
        <p:nvSpPr>
          <p:cNvPr id="83" name="Google Shape;83;p16"/>
          <p:cNvSpPr txBox="1"/>
          <p:nvPr/>
        </p:nvSpPr>
        <p:spPr>
          <a:xfrm>
            <a:off x="4099025" y="15540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t>Link:</a:t>
            </a:r>
            <a:r>
              <a:rPr lang="en" u="sng">
                <a:solidFill>
                  <a:schemeClr val="hlink"/>
                </a:solidFill>
                <a:hlinkClick r:id="rId7"/>
              </a:rPr>
              <a:t> </a:t>
            </a:r>
            <a:r>
              <a:rPr lang="en" u="sng">
                <a:solidFill>
                  <a:schemeClr val="hlink"/>
                </a:solidFill>
                <a:hlinkClick r:id="rId7"/>
              </a:rPr>
              <a:t>https://shorturl.at/m0MKa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451350" y="462500"/>
            <a:ext cx="2808000" cy="75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sz="2800" b="1">
                <a:latin typeface="Calibri"/>
                <a:ea typeface="Calibri"/>
                <a:cs typeface="Calibri"/>
                <a:sym typeface="Calibri"/>
              </a:rPr>
              <a:t>Tools</a:t>
            </a:r>
            <a:endParaRPr sz="2800" b="1">
              <a:latin typeface="Calibri"/>
              <a:ea typeface="Calibri"/>
              <a:cs typeface="Calibri"/>
              <a:sym typeface="Calibri"/>
            </a:endParaRPr>
          </a:p>
        </p:txBody>
      </p:sp>
      <p:pic>
        <p:nvPicPr>
          <p:cNvPr id="89" name="Google Shape;89;p17" title="Screen Shot 2025-09-02 at 4.24.52 PM.png"/>
          <p:cNvPicPr preferRelativeResize="0"/>
          <p:nvPr/>
        </p:nvPicPr>
        <p:blipFill>
          <a:blip r:embed="rId3">
            <a:alphaModFix/>
          </a:blip>
          <a:stretch>
            <a:fillRect/>
          </a:stretch>
        </p:blipFill>
        <p:spPr>
          <a:xfrm>
            <a:off x="2010925" y="631800"/>
            <a:ext cx="2444650" cy="1660171"/>
          </a:xfrm>
          <a:prstGeom prst="rect">
            <a:avLst/>
          </a:prstGeom>
          <a:noFill/>
          <a:ln>
            <a:noFill/>
          </a:ln>
        </p:spPr>
      </p:pic>
      <p:pic>
        <p:nvPicPr>
          <p:cNvPr id="90" name="Google Shape;90;p17" title="figma.png"/>
          <p:cNvPicPr preferRelativeResize="0"/>
          <p:nvPr/>
        </p:nvPicPr>
        <p:blipFill>
          <a:blip r:embed="rId4">
            <a:alphaModFix/>
          </a:blip>
          <a:stretch>
            <a:fillRect/>
          </a:stretch>
        </p:blipFill>
        <p:spPr>
          <a:xfrm>
            <a:off x="4648198" y="710925"/>
            <a:ext cx="3162099" cy="1581050"/>
          </a:xfrm>
          <a:prstGeom prst="rect">
            <a:avLst/>
          </a:prstGeom>
          <a:noFill/>
          <a:ln>
            <a:noFill/>
          </a:ln>
        </p:spPr>
      </p:pic>
      <p:sp>
        <p:nvSpPr>
          <p:cNvPr id="91" name="Google Shape;91;p17"/>
          <p:cNvSpPr/>
          <p:nvPr/>
        </p:nvSpPr>
        <p:spPr>
          <a:xfrm>
            <a:off x="2204350" y="2939150"/>
            <a:ext cx="2444700" cy="1888500"/>
          </a:xfrm>
          <a:prstGeom prst="rect">
            <a:avLst/>
          </a:prstGeom>
          <a:solidFill>
            <a:srgbClr val="00000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2" name="Google Shape;92;p17" title="codexlogo.png"/>
          <p:cNvPicPr preferRelativeResize="0"/>
          <p:nvPr/>
        </p:nvPicPr>
        <p:blipFill>
          <a:blip r:embed="rId5">
            <a:alphaModFix/>
          </a:blip>
          <a:stretch>
            <a:fillRect/>
          </a:stretch>
        </p:blipFill>
        <p:spPr>
          <a:xfrm rot="10800000" flipH="1">
            <a:off x="2445609" y="3563174"/>
            <a:ext cx="1900951" cy="655925"/>
          </a:xfrm>
          <a:prstGeom prst="rect">
            <a:avLst/>
          </a:prstGeom>
          <a:noFill/>
          <a:ln>
            <a:noFill/>
          </a:ln>
        </p:spPr>
      </p:pic>
      <p:sp>
        <p:nvSpPr>
          <p:cNvPr id="93" name="Google Shape;93;p17"/>
          <p:cNvSpPr/>
          <p:nvPr/>
        </p:nvSpPr>
        <p:spPr>
          <a:xfrm>
            <a:off x="5419050" y="2946888"/>
            <a:ext cx="2602500" cy="1888500"/>
          </a:xfrm>
          <a:prstGeom prst="rect">
            <a:avLst/>
          </a:prstGeom>
          <a:solidFill>
            <a:srgbClr val="FFFFFF"/>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94" name="Google Shape;94;p17" title="github.png"/>
          <p:cNvPicPr preferRelativeResize="0"/>
          <p:nvPr/>
        </p:nvPicPr>
        <p:blipFill>
          <a:blip r:embed="rId6">
            <a:alphaModFix/>
          </a:blip>
          <a:stretch>
            <a:fillRect/>
          </a:stretch>
        </p:blipFill>
        <p:spPr>
          <a:xfrm>
            <a:off x="5559201" y="2999995"/>
            <a:ext cx="1986188" cy="1660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620" b="1">
                <a:latin typeface="Calibri"/>
                <a:ea typeface="Calibri"/>
                <a:cs typeface="Calibri"/>
                <a:sym typeface="Calibri"/>
              </a:rPr>
              <a:t>Figma Introduction</a:t>
            </a:r>
            <a:endParaRPr sz="2620" b="1">
              <a:latin typeface="Calibri"/>
              <a:ea typeface="Calibri"/>
              <a:cs typeface="Calibri"/>
              <a:sym typeface="Calibri"/>
            </a:endParaRPr>
          </a:p>
        </p:txBody>
      </p:sp>
      <p:pic>
        <p:nvPicPr>
          <p:cNvPr id="100" name="Google Shape;100;p18"/>
          <p:cNvPicPr preferRelativeResize="0"/>
          <p:nvPr/>
        </p:nvPicPr>
        <p:blipFill>
          <a:blip r:embed="rId3">
            <a:alphaModFix/>
          </a:blip>
          <a:stretch>
            <a:fillRect/>
          </a:stretch>
        </p:blipFill>
        <p:spPr>
          <a:xfrm>
            <a:off x="264122" y="1443675"/>
            <a:ext cx="4987827" cy="2593776"/>
          </a:xfrm>
          <a:prstGeom prst="rect">
            <a:avLst/>
          </a:prstGeom>
          <a:noFill/>
          <a:ln>
            <a:noFill/>
          </a:ln>
        </p:spPr>
      </p:pic>
      <p:sp>
        <p:nvSpPr>
          <p:cNvPr id="101" name="Google Shape;101;p18"/>
          <p:cNvSpPr txBox="1">
            <a:spLocks noGrp="1"/>
          </p:cNvSpPr>
          <p:nvPr>
            <p:ph type="body" idx="4294967295"/>
          </p:nvPr>
        </p:nvSpPr>
        <p:spPr>
          <a:xfrm>
            <a:off x="5896800" y="1152475"/>
            <a:ext cx="2935500" cy="3071400"/>
          </a:xfrm>
          <a:prstGeom prst="rect">
            <a:avLst/>
          </a:prstGeom>
        </p:spPr>
        <p:txBody>
          <a:bodyPr spcFirstLastPara="1" wrap="square" lIns="91425" tIns="91425" rIns="91425" bIns="91425" anchor="t" anchorCtr="0">
            <a:normAutofit fontScale="85000" lnSpcReduction="10000"/>
          </a:bodyPr>
          <a:lstStyle/>
          <a:p>
            <a:pPr marL="0" lvl="0" indent="0" algn="l" rtl="0">
              <a:spcBef>
                <a:spcPts val="0"/>
              </a:spcBef>
              <a:spcAft>
                <a:spcPts val="0"/>
              </a:spcAft>
              <a:buNone/>
            </a:pPr>
            <a:r>
              <a:rPr lang="en"/>
              <a:t>Figma is a web based platform that allows you to create, prototype, and collaborate on digital designs. </a:t>
            </a:r>
            <a:endParaRPr/>
          </a:p>
          <a:p>
            <a:pPr marL="0" lvl="0" indent="0" algn="l" rtl="0">
              <a:spcBef>
                <a:spcPts val="1200"/>
              </a:spcBef>
              <a:spcAft>
                <a:spcPts val="0"/>
              </a:spcAft>
              <a:buNone/>
            </a:pPr>
            <a:r>
              <a:rPr lang="en"/>
              <a:t>Sign up at: </a:t>
            </a:r>
            <a:r>
              <a:rPr lang="en" u="sng">
                <a:solidFill>
                  <a:schemeClr val="hlink"/>
                </a:solidFill>
                <a:hlinkClick r:id="rId4"/>
              </a:rPr>
              <a:t>figma.com/education/apply</a:t>
            </a:r>
            <a:endParaRPr/>
          </a:p>
          <a:p>
            <a:pPr marL="0" lvl="0" indent="0" algn="l" rtl="0">
              <a:spcBef>
                <a:spcPts val="1200"/>
              </a:spcBef>
              <a:spcAft>
                <a:spcPts val="0"/>
              </a:spcAft>
              <a:buNone/>
            </a:pPr>
            <a:r>
              <a:rPr lang="en"/>
              <a:t>Tutorials:</a:t>
            </a:r>
            <a:endParaRPr/>
          </a:p>
          <a:p>
            <a:pPr marL="0" lvl="0" indent="0" algn="l" rtl="0">
              <a:spcBef>
                <a:spcPts val="1200"/>
              </a:spcBef>
              <a:spcAft>
                <a:spcPts val="0"/>
              </a:spcAft>
              <a:buNone/>
            </a:pPr>
            <a:r>
              <a:rPr lang="en" u="sng">
                <a:solidFill>
                  <a:schemeClr val="hlink"/>
                </a:solidFill>
                <a:hlinkClick r:id="rId5"/>
              </a:rPr>
              <a:t>https://tinyurl.com/362u2t65</a:t>
            </a:r>
            <a:endParaRPr/>
          </a:p>
          <a:p>
            <a:pPr marL="0" lvl="0" indent="0" algn="l" rtl="0">
              <a:spcBef>
                <a:spcPts val="1200"/>
              </a:spcBef>
              <a:spcAft>
                <a:spcPts val="1200"/>
              </a:spcAft>
              <a:buNone/>
            </a:pPr>
            <a:r>
              <a:rPr lang="en" u="sng">
                <a:solidFill>
                  <a:schemeClr val="hlink"/>
                </a:solidFill>
                <a:hlinkClick r:id="rId6"/>
              </a:rPr>
              <a:t>https://tinyurl.com/yx22u38j</a:t>
            </a:r>
            <a:r>
              <a:rPr lang="en"/>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9CB9C"/>
        </a:solidFill>
        <a:effectLst/>
      </p:bgPr>
    </p:bg>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655200" y="755450"/>
            <a:ext cx="5087400" cy="3863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Clr>
                <a:schemeClr val="dk1"/>
              </a:buClr>
              <a:buSzPct val="50000"/>
              <a:buFont typeface="Arial"/>
              <a:buNone/>
            </a:pPr>
            <a:r>
              <a:rPr lang="en" sz="2200" b="1"/>
              <a:t>      </a:t>
            </a:r>
            <a:r>
              <a:rPr lang="en" sz="2200" b="1" u="sng"/>
              <a:t>Introduction</a:t>
            </a:r>
            <a:endParaRPr sz="2200" b="1" u="sng"/>
          </a:p>
          <a:p>
            <a:pPr marL="457200" lvl="0" indent="-354330" algn="ctr" rtl="0">
              <a:spcBef>
                <a:spcPts val="0"/>
              </a:spcBef>
              <a:spcAft>
                <a:spcPts val="0"/>
              </a:spcAft>
              <a:buSzPct val="100000"/>
              <a:buAutoNum type="arabicPeriod"/>
            </a:pPr>
            <a:r>
              <a:rPr lang="en" sz="2200"/>
              <a:t>Name</a:t>
            </a:r>
            <a:endParaRPr sz="2200"/>
          </a:p>
          <a:p>
            <a:pPr marL="457200" lvl="0" indent="-354330" algn="ctr" rtl="0">
              <a:spcBef>
                <a:spcPts val="0"/>
              </a:spcBef>
              <a:spcAft>
                <a:spcPts val="0"/>
              </a:spcAft>
              <a:buSzPct val="100000"/>
              <a:buAutoNum type="arabicPeriod"/>
            </a:pPr>
            <a:r>
              <a:rPr lang="en" sz="2200"/>
              <a:t>Program</a:t>
            </a:r>
            <a:endParaRPr sz="2200"/>
          </a:p>
          <a:p>
            <a:pPr marL="457200" lvl="0" indent="-354330" algn="ctr" rtl="0">
              <a:spcBef>
                <a:spcPts val="0"/>
              </a:spcBef>
              <a:spcAft>
                <a:spcPts val="0"/>
              </a:spcAft>
              <a:buSzPct val="100000"/>
              <a:buAutoNum type="arabicPeriod"/>
            </a:pPr>
            <a:r>
              <a:rPr lang="en" sz="2200"/>
              <a:t>Coding experience</a:t>
            </a:r>
            <a:endParaRPr sz="2200"/>
          </a:p>
          <a:p>
            <a:pPr marL="457200" lvl="0" indent="-354330" algn="ctr" rtl="0">
              <a:spcBef>
                <a:spcPts val="0"/>
              </a:spcBef>
              <a:spcAft>
                <a:spcPts val="0"/>
              </a:spcAft>
              <a:buSzPct val="100000"/>
              <a:buAutoNum type="arabicPeriod"/>
            </a:pPr>
            <a:r>
              <a:rPr lang="en" sz="2200"/>
              <a:t>Interest in this class</a:t>
            </a:r>
            <a:endParaRPr sz="2200"/>
          </a:p>
          <a:p>
            <a:pPr marL="457200" lvl="0" indent="-354330" algn="ctr" rtl="0">
              <a:spcBef>
                <a:spcPts val="0"/>
              </a:spcBef>
              <a:spcAft>
                <a:spcPts val="0"/>
              </a:spcAft>
              <a:buSzPct val="100000"/>
              <a:buAutoNum type="arabicPeriod"/>
            </a:pPr>
            <a:r>
              <a:rPr lang="en" sz="2200"/>
              <a:t>PC or Mac</a:t>
            </a:r>
            <a:endParaRPr sz="2200"/>
          </a:p>
          <a:p>
            <a:pPr marL="0" lvl="0" indent="0" algn="ctr" rtl="0">
              <a:spcBef>
                <a:spcPts val="0"/>
              </a:spcBef>
              <a:spcAft>
                <a:spcPts val="0"/>
              </a:spcAft>
              <a:buClr>
                <a:schemeClr val="dk1"/>
              </a:buClr>
              <a:buSzPct val="50000"/>
              <a:buFont typeface="Arial"/>
              <a:buNone/>
            </a:pPr>
            <a:endParaRPr sz="2200"/>
          </a:p>
          <a:p>
            <a:pPr marL="0" lvl="0" indent="0" algn="ctr" rtl="0">
              <a:spcBef>
                <a:spcPts val="0"/>
              </a:spcBef>
              <a:spcAft>
                <a:spcPts val="0"/>
              </a:spcAft>
              <a:buClr>
                <a:schemeClr val="dk1"/>
              </a:buClr>
              <a:buSzPct val="50000"/>
              <a:buFont typeface="Arial"/>
              <a:buNone/>
            </a:pPr>
            <a:r>
              <a:rPr lang="en" sz="2200" b="1" u="sng"/>
              <a:t>Group Discussion</a:t>
            </a:r>
            <a:endParaRPr sz="2200" b="1" u="sng"/>
          </a:p>
          <a:p>
            <a:pPr marL="457200" lvl="0" indent="-354330" algn="ctr" rtl="0">
              <a:spcBef>
                <a:spcPts val="0"/>
              </a:spcBef>
              <a:spcAft>
                <a:spcPts val="0"/>
              </a:spcAft>
              <a:buSzPct val="100000"/>
              <a:buAutoNum type="arabicPeriod"/>
            </a:pPr>
            <a:r>
              <a:rPr lang="en" sz="2200"/>
              <a:t>What is code to you?</a:t>
            </a:r>
            <a:endParaRPr sz="2200"/>
          </a:p>
          <a:p>
            <a:pPr marL="457200" lvl="0" indent="-354330" algn="ctr" rtl="0">
              <a:spcBef>
                <a:spcPts val="0"/>
              </a:spcBef>
              <a:spcAft>
                <a:spcPts val="0"/>
              </a:spcAft>
              <a:buSzPct val="100000"/>
              <a:buAutoNum type="arabicPeriod"/>
            </a:pPr>
            <a:r>
              <a:rPr lang="en" sz="2200"/>
              <a:t>Why do you code?</a:t>
            </a:r>
            <a:endParaRPr sz="2200"/>
          </a:p>
          <a:p>
            <a:pPr marL="457200" lvl="0" indent="-354330" algn="ctr" rtl="0">
              <a:spcBef>
                <a:spcPts val="0"/>
              </a:spcBef>
              <a:spcAft>
                <a:spcPts val="0"/>
              </a:spcAft>
              <a:buSzPct val="100000"/>
              <a:buAutoNum type="arabicPeriod"/>
            </a:pPr>
            <a:r>
              <a:rPr lang="en" sz="2200"/>
              <a:t>Why does it matter to society?</a:t>
            </a:r>
            <a:endParaRPr sz="2200"/>
          </a:p>
          <a:p>
            <a:pPr marL="0" lvl="0" indent="0" algn="ctr" rtl="0">
              <a:spcBef>
                <a:spcPts val="0"/>
              </a:spcBef>
              <a:spcAft>
                <a:spcPts val="0"/>
              </a:spcAft>
              <a:buClr>
                <a:schemeClr val="dk1"/>
              </a:buClr>
              <a:buSzPct val="48529"/>
              <a:buFont typeface="Arial"/>
              <a:buNone/>
            </a:pPr>
            <a:endParaRPr sz="2267"/>
          </a:p>
          <a:p>
            <a:pPr marL="0" lvl="0" indent="0" algn="ctr" rtl="0">
              <a:spcBef>
                <a:spcPts val="0"/>
              </a:spcBef>
              <a:spcAft>
                <a:spcPts val="0"/>
              </a:spcAft>
              <a:buClr>
                <a:schemeClr val="dk1"/>
              </a:buClr>
              <a:buSzPct val="48529"/>
              <a:buFont typeface="Arial"/>
              <a:buNone/>
            </a:pPr>
            <a:r>
              <a:rPr lang="en" sz="2267"/>
              <a:t>URL: </a:t>
            </a:r>
            <a:r>
              <a:rPr lang="en" sz="2267" u="sng">
                <a:solidFill>
                  <a:schemeClr val="hlink"/>
                </a:solidFill>
                <a:hlinkClick r:id="rId3"/>
              </a:rPr>
              <a:t>https://shorturl.at/KdkLF</a:t>
            </a:r>
            <a:endParaRPr sz="2267"/>
          </a:p>
          <a:p>
            <a:pPr marL="0" lvl="0" indent="0" algn="ctr" rtl="0">
              <a:spcBef>
                <a:spcPts val="0"/>
              </a:spcBef>
              <a:spcAft>
                <a:spcPts val="0"/>
              </a:spcAft>
              <a:buClr>
                <a:schemeClr val="dk1"/>
              </a:buClr>
              <a:buSzPct val="48529"/>
              <a:buFont typeface="Arial"/>
              <a:buNone/>
            </a:pPr>
            <a:br>
              <a:rPr lang="en" sz="2267"/>
            </a:br>
            <a:endParaRPr sz="2200" b="1" u="sng"/>
          </a:p>
        </p:txBody>
      </p:sp>
      <p:pic>
        <p:nvPicPr>
          <p:cNvPr id="107" name="Google Shape;107;p19"/>
          <p:cNvPicPr preferRelativeResize="0"/>
          <p:nvPr/>
        </p:nvPicPr>
        <p:blipFill>
          <a:blip r:embed="rId4">
            <a:alphaModFix/>
          </a:blip>
          <a:stretch>
            <a:fillRect/>
          </a:stretch>
        </p:blipFill>
        <p:spPr>
          <a:xfrm>
            <a:off x="567914" y="1580843"/>
            <a:ext cx="2617200" cy="2617200"/>
          </a:xfrm>
          <a:prstGeom prst="rect">
            <a:avLst/>
          </a:prstGeom>
          <a:noFill/>
          <a:ln>
            <a:noFill/>
          </a:ln>
        </p:spPr>
      </p:pic>
      <p:sp>
        <p:nvSpPr>
          <p:cNvPr id="108" name="Google Shape;108;p19"/>
          <p:cNvSpPr txBox="1">
            <a:spLocks noGrp="1"/>
          </p:cNvSpPr>
          <p:nvPr>
            <p:ph type="ctrTitle" idx="4294967295"/>
          </p:nvPr>
        </p:nvSpPr>
        <p:spPr>
          <a:xfrm>
            <a:off x="445450" y="375025"/>
            <a:ext cx="3665400" cy="515700"/>
          </a:xfrm>
          <a:prstGeom prst="rect">
            <a:avLst/>
          </a:prstGeom>
          <a:noFill/>
          <a:ln>
            <a:noFill/>
          </a:ln>
        </p:spPr>
        <p:txBody>
          <a:bodyPr spcFirstLastPara="1" wrap="square" lIns="68575" tIns="34275" rIns="68575" bIns="34275" anchor="ctr" anchorCtr="0">
            <a:spAutoFit/>
          </a:bodyPr>
          <a:lstStyle/>
          <a:p>
            <a:pPr marL="0" marR="0" lvl="0" indent="0" algn="l" rtl="0">
              <a:lnSpc>
                <a:spcPct val="100000"/>
              </a:lnSpc>
              <a:spcBef>
                <a:spcPts val="0"/>
              </a:spcBef>
              <a:spcAft>
                <a:spcPts val="0"/>
              </a:spcAft>
              <a:buClr>
                <a:schemeClr val="dk2"/>
              </a:buClr>
              <a:buSzPts val="2500"/>
              <a:buFont typeface="Arial"/>
              <a:buNone/>
            </a:pPr>
            <a:r>
              <a:rPr lang="en" sz="2900" b="1">
                <a:latin typeface="Calibri"/>
                <a:ea typeface="Calibri"/>
                <a:cs typeface="Calibri"/>
                <a:sym typeface="Calibri"/>
              </a:rPr>
              <a:t>Activity 1 - Icebreaker!</a:t>
            </a:r>
            <a:endParaRPr sz="2900" b="1">
              <a:latin typeface="Calibri"/>
              <a:ea typeface="Calibri"/>
              <a:cs typeface="Calibri"/>
              <a:sym typeface="Calibri"/>
            </a:endParaRPr>
          </a:p>
        </p:txBody>
      </p:sp>
      <p:sp>
        <p:nvSpPr>
          <p:cNvPr id="109" name="Google Shape;109;p19"/>
          <p:cNvSpPr txBox="1"/>
          <p:nvPr/>
        </p:nvSpPr>
        <p:spPr>
          <a:xfrm>
            <a:off x="7896675" y="553350"/>
            <a:ext cx="12609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0"/>
          <p:cNvSpPr txBox="1">
            <a:spLocks noGrp="1"/>
          </p:cNvSpPr>
          <p:nvPr>
            <p:ph type="ctrTitle"/>
          </p:nvPr>
        </p:nvSpPr>
        <p:spPr>
          <a:xfrm>
            <a:off x="597147" y="375025"/>
            <a:ext cx="7376100" cy="515700"/>
          </a:xfrm>
          <a:prstGeom prst="rect">
            <a:avLst/>
          </a:prstGeom>
          <a:noFill/>
          <a:ln>
            <a:noFill/>
          </a:ln>
        </p:spPr>
        <p:txBody>
          <a:bodyPr spcFirstLastPara="1" wrap="square" lIns="68575" tIns="34275" rIns="68575" bIns="34275" anchor="ctr" anchorCtr="0">
            <a:spAutoFit/>
          </a:bodyPr>
          <a:lstStyle/>
          <a:p>
            <a:pPr marL="0" marR="0" lvl="0" indent="0" algn="l" rtl="0">
              <a:lnSpc>
                <a:spcPct val="100000"/>
              </a:lnSpc>
              <a:spcBef>
                <a:spcPts val="0"/>
              </a:spcBef>
              <a:spcAft>
                <a:spcPts val="0"/>
              </a:spcAft>
              <a:buClr>
                <a:schemeClr val="dk2"/>
              </a:buClr>
              <a:buSzPts val="2500"/>
              <a:buFont typeface="Arial"/>
              <a:buNone/>
            </a:pPr>
            <a:r>
              <a:rPr lang="en" sz="2900" b="1">
                <a:solidFill>
                  <a:schemeClr val="dk1"/>
                </a:solidFill>
                <a:latin typeface="Calibri"/>
                <a:ea typeface="Calibri"/>
                <a:cs typeface="Calibri"/>
                <a:sym typeface="Calibri"/>
              </a:rPr>
              <a:t>Functions</a:t>
            </a:r>
            <a:endParaRPr sz="2900" b="1">
              <a:latin typeface="Calibri"/>
              <a:ea typeface="Calibri"/>
              <a:cs typeface="Calibri"/>
              <a:sym typeface="Calibri"/>
            </a:endParaRPr>
          </a:p>
        </p:txBody>
      </p:sp>
      <p:sp>
        <p:nvSpPr>
          <p:cNvPr id="115" name="Google Shape;115;p20"/>
          <p:cNvSpPr/>
          <p:nvPr/>
        </p:nvSpPr>
        <p:spPr>
          <a:xfrm>
            <a:off x="624801" y="1441000"/>
            <a:ext cx="8076300" cy="16851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0"/>
              </a:spcBef>
              <a:spcAft>
                <a:spcPts val="0"/>
              </a:spcAft>
              <a:buClr>
                <a:schemeClr val="dk1"/>
              </a:buClr>
              <a:buSzPts val="800"/>
              <a:buFont typeface="Arial"/>
              <a:buNone/>
            </a:pPr>
            <a:r>
              <a:rPr lang="en" sz="2300" b="1">
                <a:solidFill>
                  <a:schemeClr val="dk1"/>
                </a:solidFill>
              </a:rPr>
              <a:t>HTML</a:t>
            </a:r>
            <a:r>
              <a:rPr lang="en" sz="2300">
                <a:solidFill>
                  <a:schemeClr val="dk1"/>
                </a:solidFill>
              </a:rPr>
              <a:t> defines the structure and content of a web page.</a:t>
            </a:r>
            <a:endParaRPr sz="2300">
              <a:solidFill>
                <a:schemeClr val="dk1"/>
              </a:solidFill>
            </a:endParaRPr>
          </a:p>
          <a:p>
            <a:pPr marL="0" lvl="0" indent="0" algn="l" rtl="0">
              <a:lnSpc>
                <a:spcPct val="115000"/>
              </a:lnSpc>
              <a:spcBef>
                <a:spcPts val="0"/>
              </a:spcBef>
              <a:spcAft>
                <a:spcPts val="0"/>
              </a:spcAft>
              <a:buClr>
                <a:schemeClr val="dk1"/>
              </a:buClr>
              <a:buSzPts val="800"/>
              <a:buFont typeface="Arial"/>
              <a:buNone/>
            </a:pPr>
            <a:endParaRPr sz="2300">
              <a:solidFill>
                <a:schemeClr val="dk1"/>
              </a:solidFill>
            </a:endParaRPr>
          </a:p>
          <a:p>
            <a:pPr marL="0" lvl="0" indent="0" algn="l" rtl="0">
              <a:lnSpc>
                <a:spcPct val="115000"/>
              </a:lnSpc>
              <a:spcBef>
                <a:spcPts val="0"/>
              </a:spcBef>
              <a:spcAft>
                <a:spcPts val="0"/>
              </a:spcAft>
              <a:buClr>
                <a:schemeClr val="dk1"/>
              </a:buClr>
              <a:buSzPts val="800"/>
              <a:buFont typeface="Arial"/>
              <a:buNone/>
            </a:pPr>
            <a:r>
              <a:rPr lang="en" sz="2300" b="1">
                <a:solidFill>
                  <a:schemeClr val="dk1"/>
                </a:solidFill>
              </a:rPr>
              <a:t>CSS</a:t>
            </a:r>
            <a:r>
              <a:rPr lang="en" sz="2300">
                <a:solidFill>
                  <a:schemeClr val="dk1"/>
                </a:solidFill>
              </a:rPr>
              <a:t> controls the style and layout of a web page.</a:t>
            </a:r>
            <a:endParaRPr sz="2300">
              <a:solidFill>
                <a:schemeClr val="dk1"/>
              </a:solidFill>
            </a:endParaRPr>
          </a:p>
          <a:p>
            <a:pPr marL="0" lvl="0" indent="0" algn="l" rtl="0">
              <a:lnSpc>
                <a:spcPct val="115000"/>
              </a:lnSpc>
              <a:spcBef>
                <a:spcPts val="0"/>
              </a:spcBef>
              <a:spcAft>
                <a:spcPts val="0"/>
              </a:spcAft>
              <a:buClr>
                <a:schemeClr val="dk1"/>
              </a:buClr>
              <a:buSzPts val="800"/>
              <a:buFont typeface="Arial"/>
              <a:buNone/>
            </a:pPr>
            <a:endParaRPr sz="2300">
              <a:solidFill>
                <a:schemeClr val="dk1"/>
              </a:solidFill>
            </a:endParaRPr>
          </a:p>
          <a:p>
            <a:pPr marL="0" lvl="0" indent="0" algn="l" rtl="0">
              <a:lnSpc>
                <a:spcPct val="115000"/>
              </a:lnSpc>
              <a:spcBef>
                <a:spcPts val="0"/>
              </a:spcBef>
              <a:spcAft>
                <a:spcPts val="0"/>
              </a:spcAft>
              <a:buClr>
                <a:schemeClr val="dk1"/>
              </a:buClr>
              <a:buSzPts val="800"/>
              <a:buFont typeface="Arial"/>
              <a:buNone/>
            </a:pPr>
            <a:r>
              <a:rPr lang="en" sz="2300" b="1">
                <a:solidFill>
                  <a:schemeClr val="dk1"/>
                </a:solidFill>
              </a:rPr>
              <a:t>JavaScript</a:t>
            </a:r>
            <a:r>
              <a:rPr lang="en" sz="2300">
                <a:solidFill>
                  <a:schemeClr val="dk1"/>
                </a:solidFill>
              </a:rPr>
              <a:t> adds interactivity and behavior to a web page.</a:t>
            </a:r>
            <a:endParaRPr sz="2300">
              <a:solidFill>
                <a:schemeClr val="dk1"/>
              </a:solidFill>
            </a:endParaRPr>
          </a:p>
          <a:p>
            <a:pPr marL="215900" marR="0" lvl="0" indent="-114300" algn="l" rtl="0">
              <a:lnSpc>
                <a:spcPct val="100000"/>
              </a:lnSpc>
              <a:spcBef>
                <a:spcPts val="0"/>
              </a:spcBef>
              <a:spcAft>
                <a:spcPts val="0"/>
              </a:spcAft>
              <a:buClr>
                <a:srgbClr val="000000"/>
              </a:buClr>
              <a:buSzPts val="1500"/>
              <a:buFont typeface="Arial"/>
              <a:buNone/>
            </a:pPr>
            <a:endParaRPr sz="15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ctrTitle"/>
          </p:nvPr>
        </p:nvSpPr>
        <p:spPr>
          <a:xfrm>
            <a:off x="624800" y="375025"/>
            <a:ext cx="7376100" cy="515700"/>
          </a:xfrm>
          <a:prstGeom prst="rect">
            <a:avLst/>
          </a:prstGeom>
          <a:noFill/>
          <a:ln>
            <a:noFill/>
          </a:ln>
        </p:spPr>
        <p:txBody>
          <a:bodyPr spcFirstLastPara="1" wrap="square" lIns="68575" tIns="34275" rIns="68575" bIns="34275" anchor="ctr" anchorCtr="0">
            <a:spAutoFit/>
          </a:bodyPr>
          <a:lstStyle/>
          <a:p>
            <a:pPr marL="0" marR="0" lvl="0" indent="0" algn="l" rtl="0">
              <a:lnSpc>
                <a:spcPct val="100000"/>
              </a:lnSpc>
              <a:spcBef>
                <a:spcPts val="0"/>
              </a:spcBef>
              <a:spcAft>
                <a:spcPts val="0"/>
              </a:spcAft>
              <a:buClr>
                <a:schemeClr val="dk2"/>
              </a:buClr>
              <a:buSzPts val="2500"/>
              <a:buFont typeface="Arial"/>
              <a:buNone/>
            </a:pPr>
            <a:r>
              <a:rPr lang="en" sz="2900" b="1">
                <a:latin typeface="Calibri"/>
                <a:ea typeface="Calibri"/>
                <a:cs typeface="Calibri"/>
                <a:sym typeface="Calibri"/>
              </a:rPr>
              <a:t>Some of Core Qualities of Design</a:t>
            </a:r>
            <a:endParaRPr sz="2900" b="1">
              <a:latin typeface="Calibri"/>
              <a:ea typeface="Calibri"/>
              <a:cs typeface="Calibri"/>
              <a:sym typeface="Calibri"/>
            </a:endParaRPr>
          </a:p>
        </p:txBody>
      </p:sp>
      <p:sp>
        <p:nvSpPr>
          <p:cNvPr id="121" name="Google Shape;121;p21"/>
          <p:cNvSpPr/>
          <p:nvPr/>
        </p:nvSpPr>
        <p:spPr>
          <a:xfrm>
            <a:off x="714025" y="1373600"/>
            <a:ext cx="1803300" cy="1803300"/>
          </a:xfrm>
          <a:prstGeom prst="ellipse">
            <a:avLst/>
          </a:prstGeom>
          <a:solidFill>
            <a:srgbClr val="FFE5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800" b="1">
                <a:solidFill>
                  <a:schemeClr val="dk1"/>
                </a:solidFill>
                <a:highlight>
                  <a:srgbClr val="FFE599"/>
                </a:highlight>
              </a:rPr>
              <a:t>Efficiency</a:t>
            </a:r>
            <a:endParaRPr sz="1800" b="1">
              <a:solidFill>
                <a:schemeClr val="dk1"/>
              </a:solidFill>
              <a:highlight>
                <a:srgbClr val="FFE599"/>
              </a:highlight>
            </a:endParaRPr>
          </a:p>
        </p:txBody>
      </p:sp>
      <p:grpSp>
        <p:nvGrpSpPr>
          <p:cNvPr id="122" name="Google Shape;122;p21"/>
          <p:cNvGrpSpPr/>
          <p:nvPr/>
        </p:nvGrpSpPr>
        <p:grpSpPr>
          <a:xfrm>
            <a:off x="2017500" y="3176900"/>
            <a:ext cx="1803300" cy="1803300"/>
            <a:chOff x="2017500" y="3176900"/>
            <a:chExt cx="1803300" cy="1803300"/>
          </a:xfrm>
        </p:grpSpPr>
        <p:sp>
          <p:nvSpPr>
            <p:cNvPr id="123" name="Google Shape;123;p21"/>
            <p:cNvSpPr/>
            <p:nvPr/>
          </p:nvSpPr>
          <p:spPr>
            <a:xfrm>
              <a:off x="2017500" y="3176900"/>
              <a:ext cx="1803300" cy="1803300"/>
            </a:xfrm>
            <a:prstGeom prst="ellipse">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1">
                <a:solidFill>
                  <a:schemeClr val="dk1"/>
                </a:solidFill>
                <a:highlight>
                  <a:srgbClr val="A2C4C9"/>
                </a:highlight>
              </a:endParaRPr>
            </a:p>
          </p:txBody>
        </p:sp>
        <p:sp>
          <p:nvSpPr>
            <p:cNvPr id="124" name="Google Shape;124;p21"/>
            <p:cNvSpPr txBox="1"/>
            <p:nvPr/>
          </p:nvSpPr>
          <p:spPr>
            <a:xfrm>
              <a:off x="2017500" y="3921148"/>
              <a:ext cx="1803300" cy="415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500" b="1">
                  <a:solidFill>
                    <a:schemeClr val="dk1"/>
                  </a:solidFill>
                </a:rPr>
                <a:t>Maintainability</a:t>
              </a:r>
              <a:endParaRPr sz="1500" b="1">
                <a:solidFill>
                  <a:schemeClr val="dk1"/>
                </a:solidFill>
              </a:endParaRPr>
            </a:p>
          </p:txBody>
        </p:sp>
      </p:grpSp>
      <p:grpSp>
        <p:nvGrpSpPr>
          <p:cNvPr id="125" name="Google Shape;125;p21"/>
          <p:cNvGrpSpPr/>
          <p:nvPr/>
        </p:nvGrpSpPr>
        <p:grpSpPr>
          <a:xfrm>
            <a:off x="3524025" y="1373600"/>
            <a:ext cx="1847784" cy="1803300"/>
            <a:chOff x="3524025" y="1373600"/>
            <a:chExt cx="1847784" cy="1803300"/>
          </a:xfrm>
        </p:grpSpPr>
        <p:sp>
          <p:nvSpPr>
            <p:cNvPr id="126" name="Google Shape;126;p21"/>
            <p:cNvSpPr/>
            <p:nvPr/>
          </p:nvSpPr>
          <p:spPr>
            <a:xfrm>
              <a:off x="3524025" y="1373600"/>
              <a:ext cx="1803300" cy="1803300"/>
            </a:xfrm>
            <a:prstGeom prst="ellipse">
              <a:avLst/>
            </a:prstGeom>
            <a:solidFill>
              <a:srgbClr val="B4A7D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1">
                <a:solidFill>
                  <a:schemeClr val="dk1"/>
                </a:solidFill>
                <a:highlight>
                  <a:srgbClr val="A2C4C9"/>
                </a:highlight>
              </a:endParaRPr>
            </a:p>
          </p:txBody>
        </p:sp>
        <p:sp>
          <p:nvSpPr>
            <p:cNvPr id="127" name="Google Shape;127;p21"/>
            <p:cNvSpPr txBox="1"/>
            <p:nvPr/>
          </p:nvSpPr>
          <p:spPr>
            <a:xfrm>
              <a:off x="3844809" y="2052050"/>
              <a:ext cx="15270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dk1"/>
                  </a:solidFill>
                </a:rPr>
                <a:t>Flexibility</a:t>
              </a:r>
              <a:endParaRPr sz="1700" b="1">
                <a:solidFill>
                  <a:schemeClr val="dk1"/>
                </a:solidFill>
              </a:endParaRPr>
            </a:p>
          </p:txBody>
        </p:sp>
      </p:grpSp>
      <p:grpSp>
        <p:nvGrpSpPr>
          <p:cNvPr id="128" name="Google Shape;128;p21"/>
          <p:cNvGrpSpPr/>
          <p:nvPr/>
        </p:nvGrpSpPr>
        <p:grpSpPr>
          <a:xfrm>
            <a:off x="5098725" y="3227250"/>
            <a:ext cx="1946487" cy="1803300"/>
            <a:chOff x="5098725" y="3227250"/>
            <a:chExt cx="1946487" cy="1803300"/>
          </a:xfrm>
        </p:grpSpPr>
        <p:sp>
          <p:nvSpPr>
            <p:cNvPr id="129" name="Google Shape;129;p21"/>
            <p:cNvSpPr/>
            <p:nvPr/>
          </p:nvSpPr>
          <p:spPr>
            <a:xfrm>
              <a:off x="5098725" y="3227250"/>
              <a:ext cx="1803300" cy="1803300"/>
            </a:xfrm>
            <a:prstGeom prst="ellipse">
              <a:avLst/>
            </a:prstGeom>
            <a:solidFill>
              <a:srgbClr val="EAD1DC"/>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1">
                <a:solidFill>
                  <a:schemeClr val="dk1"/>
                </a:solidFill>
                <a:highlight>
                  <a:srgbClr val="EAD1DC"/>
                </a:highlight>
              </a:endParaRPr>
            </a:p>
          </p:txBody>
        </p:sp>
        <p:sp>
          <p:nvSpPr>
            <p:cNvPr id="130" name="Google Shape;130;p21"/>
            <p:cNvSpPr txBox="1"/>
            <p:nvPr/>
          </p:nvSpPr>
          <p:spPr>
            <a:xfrm>
              <a:off x="5518212" y="3898050"/>
              <a:ext cx="15270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rPr>
                <a:t>Clarity</a:t>
              </a:r>
              <a:endParaRPr sz="1800" b="1">
                <a:solidFill>
                  <a:schemeClr val="dk1"/>
                </a:solidFill>
              </a:endParaRPr>
            </a:p>
          </p:txBody>
        </p:sp>
      </p:grpSp>
      <p:grpSp>
        <p:nvGrpSpPr>
          <p:cNvPr id="131" name="Google Shape;131;p21"/>
          <p:cNvGrpSpPr/>
          <p:nvPr/>
        </p:nvGrpSpPr>
        <p:grpSpPr>
          <a:xfrm>
            <a:off x="6652325" y="1373600"/>
            <a:ext cx="1985184" cy="1803300"/>
            <a:chOff x="6652325" y="1373600"/>
            <a:chExt cx="1985184" cy="1803300"/>
          </a:xfrm>
        </p:grpSpPr>
        <p:sp>
          <p:nvSpPr>
            <p:cNvPr id="132" name="Google Shape;132;p21"/>
            <p:cNvSpPr/>
            <p:nvPr/>
          </p:nvSpPr>
          <p:spPr>
            <a:xfrm>
              <a:off x="6652325" y="1373600"/>
              <a:ext cx="1803300" cy="1803300"/>
            </a:xfrm>
            <a:prstGeom prst="ellipse">
              <a:avLst/>
            </a:prstGeom>
            <a:solidFill>
              <a:srgbClr val="6D9EEB"/>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200" b="1">
                <a:solidFill>
                  <a:schemeClr val="dk1"/>
                </a:solidFill>
                <a:highlight>
                  <a:srgbClr val="CFE2F3"/>
                </a:highlight>
              </a:endParaRPr>
            </a:p>
          </p:txBody>
        </p:sp>
        <p:sp>
          <p:nvSpPr>
            <p:cNvPr id="133" name="Google Shape;133;p21"/>
            <p:cNvSpPr txBox="1"/>
            <p:nvPr/>
          </p:nvSpPr>
          <p:spPr>
            <a:xfrm>
              <a:off x="6834209" y="2078821"/>
              <a:ext cx="18033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dk1"/>
                  </a:solidFill>
                </a:rPr>
                <a:t>Functionality</a:t>
              </a:r>
              <a:endParaRPr sz="1700" b="1">
                <a:solidFill>
                  <a:schemeClr val="dk1"/>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2"/>
          <p:cNvSpPr txBox="1">
            <a:spLocks noGrp="1"/>
          </p:cNvSpPr>
          <p:nvPr>
            <p:ph type="ctrTitle"/>
          </p:nvPr>
        </p:nvSpPr>
        <p:spPr>
          <a:xfrm>
            <a:off x="624800" y="375025"/>
            <a:ext cx="7376100" cy="515700"/>
          </a:xfrm>
          <a:prstGeom prst="rect">
            <a:avLst/>
          </a:prstGeom>
          <a:noFill/>
          <a:ln>
            <a:noFill/>
          </a:ln>
        </p:spPr>
        <p:txBody>
          <a:bodyPr spcFirstLastPara="1" wrap="square" lIns="68575" tIns="34275" rIns="68575" bIns="34275" anchor="ctr" anchorCtr="0">
            <a:spAutoFit/>
          </a:bodyPr>
          <a:lstStyle/>
          <a:p>
            <a:pPr marL="0" marR="0" lvl="0" indent="0" algn="l" rtl="0">
              <a:lnSpc>
                <a:spcPct val="100000"/>
              </a:lnSpc>
              <a:spcBef>
                <a:spcPts val="0"/>
              </a:spcBef>
              <a:spcAft>
                <a:spcPts val="0"/>
              </a:spcAft>
              <a:buClr>
                <a:schemeClr val="dk2"/>
              </a:buClr>
              <a:buSzPts val="2500"/>
              <a:buFont typeface="Arial"/>
              <a:buNone/>
            </a:pPr>
            <a:r>
              <a:rPr lang="en" sz="2900" b="1">
                <a:latin typeface="Calibri"/>
                <a:ea typeface="Calibri"/>
                <a:cs typeface="Calibri"/>
                <a:sym typeface="Calibri"/>
              </a:rPr>
              <a:t>Connect Codex to Github  </a:t>
            </a:r>
            <a:endParaRPr sz="2900" b="1">
              <a:latin typeface="Calibri"/>
              <a:ea typeface="Calibri"/>
              <a:cs typeface="Calibri"/>
              <a:sym typeface="Calibri"/>
            </a:endParaRPr>
          </a:p>
        </p:txBody>
      </p:sp>
      <p:pic>
        <p:nvPicPr>
          <p:cNvPr id="139" name="Google Shape;139;p22" title="github.png"/>
          <p:cNvPicPr preferRelativeResize="0"/>
          <p:nvPr/>
        </p:nvPicPr>
        <p:blipFill rotWithShape="1">
          <a:blip r:embed="rId3">
            <a:alphaModFix/>
          </a:blip>
          <a:srcRect t="14468" b="14468"/>
          <a:stretch/>
        </p:blipFill>
        <p:spPr>
          <a:xfrm>
            <a:off x="6149835" y="-10"/>
            <a:ext cx="2977924" cy="3186827"/>
          </a:xfrm>
          <a:prstGeom prst="rect">
            <a:avLst/>
          </a:prstGeom>
          <a:noFill/>
          <a:ln>
            <a:noFill/>
          </a:ln>
        </p:spPr>
      </p:pic>
      <p:pic>
        <p:nvPicPr>
          <p:cNvPr id="140" name="Google Shape;140;p22" title="Screenshot 2026-08-31 at 11.30.57 PM.png"/>
          <p:cNvPicPr preferRelativeResize="0"/>
          <p:nvPr/>
        </p:nvPicPr>
        <p:blipFill rotWithShape="1">
          <a:blip r:embed="rId4">
            <a:alphaModFix/>
          </a:blip>
          <a:srcRect t="14227" b="16573"/>
          <a:stretch/>
        </p:blipFill>
        <p:spPr>
          <a:xfrm>
            <a:off x="6028491" y="3258205"/>
            <a:ext cx="3080475" cy="1874351"/>
          </a:xfrm>
          <a:prstGeom prst="rect">
            <a:avLst/>
          </a:prstGeom>
          <a:noFill/>
          <a:ln>
            <a:noFill/>
          </a:ln>
        </p:spPr>
      </p:pic>
      <p:sp>
        <p:nvSpPr>
          <p:cNvPr id="141" name="Google Shape;141;p22"/>
          <p:cNvSpPr txBox="1"/>
          <p:nvPr/>
        </p:nvSpPr>
        <p:spPr>
          <a:xfrm>
            <a:off x="624800" y="1191175"/>
            <a:ext cx="5313600" cy="3951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500" b="1"/>
              <a:t>Example prompts:</a:t>
            </a:r>
            <a:endParaRPr sz="1500" b="1">
              <a:solidFill>
                <a:schemeClr val="dk1"/>
              </a:solidFill>
            </a:endParaRPr>
          </a:p>
          <a:p>
            <a:pPr marL="0" lvl="0" indent="0" algn="l" rtl="0">
              <a:lnSpc>
                <a:spcPct val="115000"/>
              </a:lnSpc>
              <a:spcBef>
                <a:spcPts val="1200"/>
              </a:spcBef>
              <a:spcAft>
                <a:spcPts val="0"/>
              </a:spcAft>
              <a:buNone/>
            </a:pPr>
            <a:r>
              <a:rPr lang="en" sz="1500" b="1"/>
              <a:t>To set up Git: </a:t>
            </a:r>
            <a:br>
              <a:rPr lang="en" sz="1500"/>
            </a:br>
            <a:r>
              <a:rPr lang="en" sz="1500"/>
              <a:t>Please check whether Git is installed on my computer. If it is installed, initialize Git for this project, and show me the Git status. (Explain each step briefly before you do it.)</a:t>
            </a:r>
            <a:endParaRPr sz="1500"/>
          </a:p>
          <a:p>
            <a:pPr marL="0" lvl="0" indent="0" algn="l" rtl="0">
              <a:lnSpc>
                <a:spcPct val="115000"/>
              </a:lnSpc>
              <a:spcBef>
                <a:spcPts val="1200"/>
              </a:spcBef>
              <a:spcAft>
                <a:spcPts val="0"/>
              </a:spcAft>
              <a:buNone/>
            </a:pPr>
            <a:r>
              <a:rPr lang="en" sz="1500" b="1">
                <a:solidFill>
                  <a:schemeClr val="dk1"/>
                </a:solidFill>
              </a:rPr>
              <a:t>To connect to Github: </a:t>
            </a:r>
            <a:br>
              <a:rPr lang="en" sz="1500" b="1">
                <a:solidFill>
                  <a:schemeClr val="dk1"/>
                </a:solidFill>
              </a:rPr>
            </a:br>
            <a:r>
              <a:rPr lang="en" sz="1500">
                <a:solidFill>
                  <a:schemeClr val="dk1"/>
                </a:solidFill>
              </a:rPr>
              <a:t>Please help me connect this project to my GitHub repository and push the current project to GitHub. (Briefly explain each command before you run it and ask for my approval before making changes.)</a:t>
            </a:r>
            <a:endParaRPr sz="1500">
              <a:solidFill>
                <a:schemeClr val="dk1"/>
              </a:solidFill>
            </a:endParaRPr>
          </a:p>
          <a:p>
            <a:pPr marL="0" lvl="0" indent="0" algn="l" rtl="0">
              <a:lnSpc>
                <a:spcPct val="115000"/>
              </a:lnSpc>
              <a:spcBef>
                <a:spcPts val="1200"/>
              </a:spcBef>
              <a:spcAft>
                <a:spcPts val="0"/>
              </a:spcAft>
              <a:buClr>
                <a:schemeClr val="dk1"/>
              </a:buClr>
              <a:buSzPts val="1100"/>
              <a:buFont typeface="Arial"/>
              <a:buNone/>
            </a:pPr>
            <a:endParaRPr sz="1500">
              <a:solidFill>
                <a:schemeClr val="dk1"/>
              </a:solidFill>
            </a:endParaRPr>
          </a:p>
          <a:p>
            <a:pPr marL="0" lvl="0" indent="0" algn="l" rtl="0">
              <a:lnSpc>
                <a:spcPct val="115000"/>
              </a:lnSpc>
              <a:spcBef>
                <a:spcPts val="1200"/>
              </a:spcBef>
              <a:spcAft>
                <a:spcPts val="1200"/>
              </a:spcAft>
              <a:buNone/>
            </a:pPr>
            <a:endParaRPr sz="1500"/>
          </a:p>
        </p:txBody>
      </p:sp>
      <p:pic>
        <p:nvPicPr>
          <p:cNvPr id="142" name="Google Shape;142;p22" title="totp.png"/>
          <p:cNvPicPr preferRelativeResize="0"/>
          <p:nvPr/>
        </p:nvPicPr>
        <p:blipFill>
          <a:blip r:embed="rId5">
            <a:alphaModFix/>
          </a:blip>
          <a:stretch>
            <a:fillRect/>
          </a:stretch>
        </p:blipFill>
        <p:spPr>
          <a:xfrm>
            <a:off x="6746264" y="3271805"/>
            <a:ext cx="320383" cy="321969"/>
          </a:xfrm>
          <a:prstGeom prst="rect">
            <a:avLst/>
          </a:prstGeom>
          <a:noFill/>
          <a:ln>
            <a:noFill/>
          </a:ln>
        </p:spPr>
      </p:pic>
      <p:pic>
        <p:nvPicPr>
          <p:cNvPr id="143" name="Google Shape;143;p22" title="duo.png"/>
          <p:cNvPicPr preferRelativeResize="0"/>
          <p:nvPr/>
        </p:nvPicPr>
        <p:blipFill>
          <a:blip r:embed="rId6">
            <a:alphaModFix/>
          </a:blip>
          <a:stretch>
            <a:fillRect/>
          </a:stretch>
        </p:blipFill>
        <p:spPr>
          <a:xfrm>
            <a:off x="6308774" y="3271799"/>
            <a:ext cx="320380" cy="31189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p:nvPr/>
        </p:nvSpPr>
        <p:spPr>
          <a:xfrm>
            <a:off x="364825" y="2315515"/>
            <a:ext cx="3873000" cy="2458200"/>
          </a:xfrm>
          <a:prstGeom prst="roundRect">
            <a:avLst>
              <a:gd name="adj" fmla="val 4803"/>
            </a:avLst>
          </a:prstGeom>
          <a:solidFill>
            <a:schemeClr val="lt2"/>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9" name="Google Shape;149;p23"/>
          <p:cNvSpPr/>
          <p:nvPr/>
        </p:nvSpPr>
        <p:spPr>
          <a:xfrm>
            <a:off x="4828700" y="2315515"/>
            <a:ext cx="3873000" cy="2458200"/>
          </a:xfrm>
          <a:prstGeom prst="roundRect">
            <a:avLst>
              <a:gd name="adj" fmla="val 4803"/>
            </a:avLst>
          </a:prstGeom>
          <a:solidFill>
            <a:schemeClr val="lt2"/>
          </a:solidFill>
          <a:ln>
            <a:noFill/>
          </a:ln>
          <a:effectLst>
            <a:outerShdw blurRad="57150" dist="19050" algn="bl" rotWithShape="0">
              <a:srgbClr val="000000">
                <a:alpha val="1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50" name="Google Shape;150;p23"/>
          <p:cNvSpPr txBox="1">
            <a:spLocks noGrp="1"/>
          </p:cNvSpPr>
          <p:nvPr>
            <p:ph type="subTitle" idx="4294967295"/>
          </p:nvPr>
        </p:nvSpPr>
        <p:spPr>
          <a:xfrm>
            <a:off x="354925" y="2548200"/>
            <a:ext cx="3873000" cy="1978500"/>
          </a:xfrm>
          <a:prstGeom prst="rect">
            <a:avLst/>
          </a:prstGeom>
        </p:spPr>
        <p:txBody>
          <a:bodyPr spcFirstLastPara="1" wrap="square" lIns="91425" tIns="91425" rIns="91425" bIns="91425" anchor="t" anchorCtr="0">
            <a:noAutofit/>
          </a:bodyPr>
          <a:lstStyle/>
          <a:p>
            <a:pPr marL="457200" lvl="0" indent="-282575" algn="l" rtl="0">
              <a:lnSpc>
                <a:spcPct val="90000"/>
              </a:lnSpc>
              <a:spcBef>
                <a:spcPts val="0"/>
              </a:spcBef>
              <a:spcAft>
                <a:spcPts val="0"/>
              </a:spcAft>
              <a:buClr>
                <a:schemeClr val="dk1"/>
              </a:buClr>
              <a:buSzPts val="850"/>
              <a:buFont typeface="Lexend Light"/>
              <a:buChar char="●"/>
            </a:pPr>
            <a:r>
              <a:rPr lang="en" sz="1225">
                <a:solidFill>
                  <a:schemeClr val="dk1"/>
                </a:solidFill>
              </a:rPr>
              <a:t>Start with a clear goal</a:t>
            </a:r>
            <a:br>
              <a:rPr lang="en" sz="1225">
                <a:solidFill>
                  <a:schemeClr val="dk1"/>
                </a:solidFill>
              </a:rPr>
            </a:br>
            <a:endParaRPr sz="1225">
              <a:solidFill>
                <a:schemeClr val="dk1"/>
              </a:solidFill>
            </a:endParaRPr>
          </a:p>
          <a:p>
            <a:pPr marL="457200" lvl="0" indent="-282575" algn="l" rtl="0">
              <a:lnSpc>
                <a:spcPct val="90000"/>
              </a:lnSpc>
              <a:spcBef>
                <a:spcPts val="0"/>
              </a:spcBef>
              <a:spcAft>
                <a:spcPts val="0"/>
              </a:spcAft>
              <a:buClr>
                <a:schemeClr val="dk1"/>
              </a:buClr>
              <a:buSzPts val="850"/>
              <a:buFont typeface="Lexend Light"/>
              <a:buChar char="●"/>
            </a:pPr>
            <a:r>
              <a:rPr lang="en" sz="1225">
                <a:solidFill>
                  <a:schemeClr val="dk1"/>
                </a:solidFill>
              </a:rPr>
              <a:t>Give context… what you're building and why</a:t>
            </a:r>
            <a:br>
              <a:rPr lang="en" sz="1225">
                <a:solidFill>
                  <a:schemeClr val="dk1"/>
                </a:solidFill>
              </a:rPr>
            </a:br>
            <a:endParaRPr sz="1225">
              <a:solidFill>
                <a:schemeClr val="dk1"/>
              </a:solidFill>
            </a:endParaRPr>
          </a:p>
          <a:p>
            <a:pPr marL="457200" lvl="0" indent="-282575" algn="l" rtl="0">
              <a:lnSpc>
                <a:spcPct val="90000"/>
              </a:lnSpc>
              <a:spcBef>
                <a:spcPts val="0"/>
              </a:spcBef>
              <a:spcAft>
                <a:spcPts val="0"/>
              </a:spcAft>
              <a:buClr>
                <a:schemeClr val="dk1"/>
              </a:buClr>
              <a:buSzPts val="850"/>
              <a:buFont typeface="Lexend Light"/>
              <a:buChar char="●"/>
            </a:pPr>
            <a:r>
              <a:rPr lang="en" sz="1225">
                <a:solidFill>
                  <a:schemeClr val="dk1"/>
                </a:solidFill>
              </a:rPr>
              <a:t>Break big tasks into smaller steps</a:t>
            </a:r>
            <a:br>
              <a:rPr lang="en" sz="1225">
                <a:solidFill>
                  <a:schemeClr val="dk1"/>
                </a:solidFill>
              </a:rPr>
            </a:br>
            <a:endParaRPr sz="1225">
              <a:solidFill>
                <a:schemeClr val="dk1"/>
              </a:solidFill>
            </a:endParaRPr>
          </a:p>
          <a:p>
            <a:pPr marL="457200" lvl="0" indent="-290513" algn="l" rtl="0">
              <a:lnSpc>
                <a:spcPct val="90000"/>
              </a:lnSpc>
              <a:spcBef>
                <a:spcPts val="0"/>
              </a:spcBef>
              <a:spcAft>
                <a:spcPts val="0"/>
              </a:spcAft>
              <a:buClr>
                <a:schemeClr val="dk1"/>
              </a:buClr>
              <a:buSzPts val="975"/>
              <a:buFont typeface="Arial"/>
              <a:buChar char="●"/>
            </a:pPr>
            <a:r>
              <a:rPr lang="en" sz="1225">
                <a:solidFill>
                  <a:schemeClr val="dk1"/>
                </a:solidFill>
              </a:rPr>
              <a:t>Run and test often</a:t>
            </a:r>
            <a:br>
              <a:rPr lang="en" sz="1225">
                <a:solidFill>
                  <a:schemeClr val="dk1"/>
                </a:solidFill>
              </a:rPr>
            </a:br>
            <a:endParaRPr sz="1225">
              <a:solidFill>
                <a:schemeClr val="dk1"/>
              </a:solidFill>
            </a:endParaRPr>
          </a:p>
          <a:p>
            <a:pPr marL="457200" lvl="0" indent="-290513" algn="l" rtl="0">
              <a:lnSpc>
                <a:spcPct val="90000"/>
              </a:lnSpc>
              <a:spcBef>
                <a:spcPts val="0"/>
              </a:spcBef>
              <a:spcAft>
                <a:spcPts val="0"/>
              </a:spcAft>
              <a:buClr>
                <a:schemeClr val="dk1"/>
              </a:buClr>
              <a:buSzPts val="975"/>
              <a:buFont typeface="Arial"/>
              <a:buChar char="●"/>
            </a:pPr>
            <a:r>
              <a:rPr lang="en" sz="1225">
                <a:solidFill>
                  <a:schemeClr val="dk1"/>
                </a:solidFill>
              </a:rPr>
              <a:t>Ask questions when you don't understand code</a:t>
            </a:r>
            <a:endParaRPr sz="1225">
              <a:solidFill>
                <a:schemeClr val="dk1"/>
              </a:solidFill>
            </a:endParaRPr>
          </a:p>
        </p:txBody>
      </p:sp>
      <p:sp>
        <p:nvSpPr>
          <p:cNvPr id="151" name="Google Shape;151;p23"/>
          <p:cNvSpPr txBox="1">
            <a:spLocks noGrp="1"/>
          </p:cNvSpPr>
          <p:nvPr>
            <p:ph type="subTitle" idx="1"/>
          </p:nvPr>
        </p:nvSpPr>
        <p:spPr>
          <a:xfrm>
            <a:off x="4889500" y="2534593"/>
            <a:ext cx="3646800" cy="1477500"/>
          </a:xfrm>
          <a:prstGeom prst="rect">
            <a:avLst/>
          </a:prstGeom>
        </p:spPr>
        <p:txBody>
          <a:bodyPr spcFirstLastPara="1" wrap="square" lIns="91425" tIns="91425" rIns="91425" bIns="91425" anchor="t" anchorCtr="0">
            <a:noAutofit/>
          </a:bodyPr>
          <a:lstStyle/>
          <a:p>
            <a:pPr marL="457200" lvl="0" indent="-304800" algn="l" rtl="0">
              <a:lnSpc>
                <a:spcPct val="80000"/>
              </a:lnSpc>
              <a:spcBef>
                <a:spcPts val="0"/>
              </a:spcBef>
              <a:spcAft>
                <a:spcPts val="0"/>
              </a:spcAft>
              <a:buClr>
                <a:schemeClr val="dk1"/>
              </a:buClr>
              <a:buSzPts val="1200"/>
              <a:buFont typeface="Arial"/>
              <a:buChar char="●"/>
            </a:pPr>
            <a:r>
              <a:rPr lang="en" sz="1200">
                <a:solidFill>
                  <a:schemeClr val="dk1"/>
                </a:solidFill>
              </a:rPr>
              <a:t>“Make something cool.”</a:t>
            </a:r>
            <a:endParaRPr sz="1200">
              <a:solidFill>
                <a:schemeClr val="dk1"/>
              </a:solidFill>
            </a:endParaRPr>
          </a:p>
          <a:p>
            <a:pPr marL="914400" lvl="0" indent="0" algn="l" rtl="0">
              <a:lnSpc>
                <a:spcPct val="80000"/>
              </a:lnSpc>
              <a:spcBef>
                <a:spcPts val="0"/>
              </a:spcBef>
              <a:spcAft>
                <a:spcPts val="0"/>
              </a:spcAft>
              <a:buNone/>
            </a:pPr>
            <a:endParaRPr sz="1200">
              <a:solidFill>
                <a:schemeClr val="dk1"/>
              </a:solidFill>
            </a:endParaRPr>
          </a:p>
          <a:p>
            <a:pPr marL="457200" lvl="0" indent="-304800" algn="l" rtl="0">
              <a:lnSpc>
                <a:spcPct val="80000"/>
              </a:lnSpc>
              <a:spcBef>
                <a:spcPts val="0"/>
              </a:spcBef>
              <a:spcAft>
                <a:spcPts val="0"/>
              </a:spcAft>
              <a:buClr>
                <a:schemeClr val="dk1"/>
              </a:buClr>
              <a:buSzPts val="1200"/>
              <a:buFont typeface="Arial"/>
              <a:buChar char="●"/>
            </a:pPr>
            <a:r>
              <a:rPr lang="en" sz="1200">
                <a:solidFill>
                  <a:schemeClr val="dk1"/>
                </a:solidFill>
              </a:rPr>
              <a:t>Assume Codex knows what you have in mind</a:t>
            </a:r>
            <a:br>
              <a:rPr lang="en" sz="1200">
                <a:solidFill>
                  <a:schemeClr val="dk1"/>
                </a:solidFill>
              </a:rPr>
            </a:br>
            <a:endParaRPr sz="1200">
              <a:solidFill>
                <a:schemeClr val="dk1"/>
              </a:solidFill>
            </a:endParaRPr>
          </a:p>
          <a:p>
            <a:pPr marL="457200" lvl="0" indent="-304800" algn="l" rtl="0">
              <a:lnSpc>
                <a:spcPct val="80000"/>
              </a:lnSpc>
              <a:spcBef>
                <a:spcPts val="0"/>
              </a:spcBef>
              <a:spcAft>
                <a:spcPts val="0"/>
              </a:spcAft>
              <a:buClr>
                <a:schemeClr val="dk1"/>
              </a:buClr>
              <a:buSzPts val="1200"/>
              <a:buFont typeface="Arial"/>
              <a:buChar char="●"/>
            </a:pPr>
            <a:r>
              <a:rPr lang="en" sz="1200">
                <a:solidFill>
                  <a:schemeClr val="dk1"/>
                </a:solidFill>
              </a:rPr>
              <a:t>Ask for an entire complicated app at once</a:t>
            </a:r>
            <a:endParaRPr sz="1200">
              <a:solidFill>
                <a:schemeClr val="dk1"/>
              </a:solidFill>
            </a:endParaRPr>
          </a:p>
          <a:p>
            <a:pPr marL="914400" lvl="0" indent="0" algn="l" rtl="0">
              <a:lnSpc>
                <a:spcPct val="80000"/>
              </a:lnSpc>
              <a:spcBef>
                <a:spcPts val="0"/>
              </a:spcBef>
              <a:spcAft>
                <a:spcPts val="0"/>
              </a:spcAft>
              <a:buNone/>
            </a:pPr>
            <a:endParaRPr sz="1200">
              <a:solidFill>
                <a:schemeClr val="dk1"/>
              </a:solidFill>
            </a:endParaRPr>
          </a:p>
          <a:p>
            <a:pPr marL="457200" lvl="0" indent="-304800" algn="l" rtl="0">
              <a:lnSpc>
                <a:spcPct val="80000"/>
              </a:lnSpc>
              <a:spcBef>
                <a:spcPts val="0"/>
              </a:spcBef>
              <a:spcAft>
                <a:spcPts val="0"/>
              </a:spcAft>
              <a:buClr>
                <a:schemeClr val="dk1"/>
              </a:buClr>
              <a:buSzPts val="1200"/>
              <a:buFont typeface="Arial"/>
              <a:buChar char="●"/>
            </a:pPr>
            <a:r>
              <a:rPr lang="en" sz="1200">
                <a:solidFill>
                  <a:schemeClr val="dk1"/>
                </a:solidFill>
              </a:rPr>
              <a:t>Assume it works because Codex says it works</a:t>
            </a:r>
            <a:br>
              <a:rPr lang="en" sz="1200">
                <a:solidFill>
                  <a:schemeClr val="dk1"/>
                </a:solidFill>
              </a:rPr>
            </a:br>
            <a:endParaRPr sz="1200">
              <a:solidFill>
                <a:schemeClr val="dk1"/>
              </a:solidFill>
            </a:endParaRPr>
          </a:p>
          <a:p>
            <a:pPr marL="457200" lvl="0" indent="-304800" algn="l" rtl="0">
              <a:lnSpc>
                <a:spcPct val="80000"/>
              </a:lnSpc>
              <a:spcBef>
                <a:spcPts val="0"/>
              </a:spcBef>
              <a:spcAft>
                <a:spcPts val="0"/>
              </a:spcAft>
              <a:buClr>
                <a:schemeClr val="dk1"/>
              </a:buClr>
              <a:buSzPts val="1200"/>
              <a:buFont typeface="Arial"/>
              <a:buChar char="●"/>
            </a:pPr>
            <a:r>
              <a:rPr lang="en" sz="1200">
                <a:solidFill>
                  <a:schemeClr val="dk1"/>
                </a:solidFill>
              </a:rPr>
              <a:t>Copy code you don't understand</a:t>
            </a:r>
            <a:endParaRPr sz="1200">
              <a:solidFill>
                <a:schemeClr val="dk1"/>
              </a:solidFill>
            </a:endParaRPr>
          </a:p>
          <a:p>
            <a:pPr marL="914400" lvl="0" indent="0" algn="l" rtl="0">
              <a:lnSpc>
                <a:spcPct val="80000"/>
              </a:lnSpc>
              <a:spcBef>
                <a:spcPts val="0"/>
              </a:spcBef>
              <a:spcAft>
                <a:spcPts val="0"/>
              </a:spcAft>
              <a:buNone/>
            </a:pPr>
            <a:br>
              <a:rPr lang="en" sz="1200">
                <a:solidFill>
                  <a:schemeClr val="dk1"/>
                </a:solidFill>
              </a:rPr>
            </a:br>
            <a:endParaRPr sz="1200">
              <a:solidFill>
                <a:schemeClr val="dk1"/>
              </a:solidFill>
            </a:endParaRPr>
          </a:p>
        </p:txBody>
      </p:sp>
      <p:sp>
        <p:nvSpPr>
          <p:cNvPr id="152" name="Google Shape;152;p23"/>
          <p:cNvSpPr/>
          <p:nvPr/>
        </p:nvSpPr>
        <p:spPr>
          <a:xfrm>
            <a:off x="364825" y="1441848"/>
            <a:ext cx="1953600" cy="630300"/>
          </a:xfrm>
          <a:prstGeom prst="roundRect">
            <a:avLst>
              <a:gd name="adj" fmla="val 50000"/>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Lexend"/>
                <a:ea typeface="Lexend"/>
                <a:cs typeface="Lexend"/>
                <a:sym typeface="Lexend"/>
              </a:rPr>
              <a:t>Do’s</a:t>
            </a:r>
            <a:endParaRPr sz="2400">
              <a:solidFill>
                <a:schemeClr val="dk1"/>
              </a:solidFill>
              <a:latin typeface="Lexend"/>
              <a:ea typeface="Lexend"/>
              <a:cs typeface="Lexend"/>
              <a:sym typeface="Lexend"/>
            </a:endParaRPr>
          </a:p>
        </p:txBody>
      </p:sp>
      <p:sp>
        <p:nvSpPr>
          <p:cNvPr id="153" name="Google Shape;153;p23"/>
          <p:cNvSpPr/>
          <p:nvPr/>
        </p:nvSpPr>
        <p:spPr>
          <a:xfrm>
            <a:off x="4828703" y="1439096"/>
            <a:ext cx="1953600" cy="6303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400">
                <a:solidFill>
                  <a:schemeClr val="dk1"/>
                </a:solidFill>
                <a:latin typeface="Lexend"/>
                <a:ea typeface="Lexend"/>
                <a:cs typeface="Lexend"/>
                <a:sym typeface="Lexend"/>
              </a:rPr>
              <a:t>Don’ts</a:t>
            </a:r>
            <a:endParaRPr sz="2400">
              <a:solidFill>
                <a:schemeClr val="dk1"/>
              </a:solidFill>
              <a:latin typeface="Lexend"/>
              <a:ea typeface="Lexend"/>
              <a:cs typeface="Lexend"/>
              <a:sym typeface="Lexend"/>
            </a:endParaRPr>
          </a:p>
        </p:txBody>
      </p:sp>
      <p:sp>
        <p:nvSpPr>
          <p:cNvPr id="154" name="Google Shape;154;p23"/>
          <p:cNvSpPr txBox="1">
            <a:spLocks noGrp="1"/>
          </p:cNvSpPr>
          <p:nvPr>
            <p:ph type="ctrTitle"/>
          </p:nvPr>
        </p:nvSpPr>
        <p:spPr>
          <a:xfrm>
            <a:off x="624800" y="375025"/>
            <a:ext cx="7376100" cy="515700"/>
          </a:xfrm>
          <a:prstGeom prst="rect">
            <a:avLst/>
          </a:prstGeom>
          <a:noFill/>
          <a:ln>
            <a:noFill/>
          </a:ln>
        </p:spPr>
        <p:txBody>
          <a:bodyPr spcFirstLastPara="1" wrap="square" lIns="68575" tIns="34275" rIns="68575" bIns="34275" anchor="ctr" anchorCtr="0">
            <a:spAutoFit/>
          </a:bodyPr>
          <a:lstStyle/>
          <a:p>
            <a:pPr marL="0" marR="0" lvl="0" indent="0" algn="l" rtl="0">
              <a:lnSpc>
                <a:spcPct val="100000"/>
              </a:lnSpc>
              <a:spcBef>
                <a:spcPts val="0"/>
              </a:spcBef>
              <a:spcAft>
                <a:spcPts val="0"/>
              </a:spcAft>
              <a:buClr>
                <a:schemeClr val="dk2"/>
              </a:buClr>
              <a:buSzPts val="2500"/>
              <a:buFont typeface="Arial"/>
              <a:buNone/>
            </a:pPr>
            <a:r>
              <a:rPr lang="en" sz="2900" b="1">
                <a:latin typeface="Calibri"/>
                <a:ea typeface="Calibri"/>
                <a:cs typeface="Calibri"/>
                <a:sym typeface="Calibri"/>
              </a:rPr>
              <a:t>CODEX Do’s &amp; Don’ts</a:t>
            </a:r>
            <a:endParaRPr sz="2900" b="1">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24"/>
          <p:cNvSpPr txBox="1">
            <a:spLocks noGrp="1"/>
          </p:cNvSpPr>
          <p:nvPr>
            <p:ph type="ctrTitle"/>
          </p:nvPr>
        </p:nvSpPr>
        <p:spPr>
          <a:xfrm>
            <a:off x="484350" y="304800"/>
            <a:ext cx="7376100" cy="515700"/>
          </a:xfrm>
          <a:prstGeom prst="rect">
            <a:avLst/>
          </a:prstGeom>
          <a:noFill/>
          <a:ln>
            <a:noFill/>
          </a:ln>
        </p:spPr>
        <p:txBody>
          <a:bodyPr spcFirstLastPara="1" wrap="square" lIns="68575" tIns="34275" rIns="68575" bIns="34275" anchor="ctr" anchorCtr="0">
            <a:spAutoFit/>
          </a:bodyPr>
          <a:lstStyle/>
          <a:p>
            <a:pPr marL="0" marR="0" lvl="0" indent="0" algn="l" rtl="0">
              <a:lnSpc>
                <a:spcPct val="100000"/>
              </a:lnSpc>
              <a:spcBef>
                <a:spcPts val="0"/>
              </a:spcBef>
              <a:spcAft>
                <a:spcPts val="0"/>
              </a:spcAft>
              <a:buClr>
                <a:schemeClr val="dk2"/>
              </a:buClr>
              <a:buSzPts val="2500"/>
              <a:buFont typeface="Arial"/>
              <a:buNone/>
            </a:pPr>
            <a:r>
              <a:rPr lang="en" sz="2900" b="1">
                <a:latin typeface="Calibri"/>
                <a:ea typeface="Calibri"/>
                <a:cs typeface="Calibri"/>
                <a:sym typeface="Calibri"/>
              </a:rPr>
              <a:t>Useful shortcuts+</a:t>
            </a:r>
            <a:endParaRPr sz="2900" b="1">
              <a:latin typeface="Calibri"/>
              <a:ea typeface="Calibri"/>
              <a:cs typeface="Calibri"/>
              <a:sym typeface="Calibri"/>
            </a:endParaRPr>
          </a:p>
        </p:txBody>
      </p:sp>
      <p:graphicFrame>
        <p:nvGraphicFramePr>
          <p:cNvPr id="160" name="Google Shape;160;p24"/>
          <p:cNvGraphicFramePr/>
          <p:nvPr/>
        </p:nvGraphicFramePr>
        <p:xfrm>
          <a:off x="484350" y="1047880"/>
          <a:ext cx="3000000" cy="3000000"/>
        </p:xfrm>
        <a:graphic>
          <a:graphicData uri="http://schemas.openxmlformats.org/drawingml/2006/table">
            <a:tbl>
              <a:tblPr>
                <a:noFill/>
                <a:tableStyleId>{E5CC113A-610D-4ABE-A293-871B59C60E40}</a:tableStyleId>
              </a:tblPr>
              <a:tblGrid>
                <a:gridCol w="1089225">
                  <a:extLst>
                    <a:ext uri="{9D8B030D-6E8A-4147-A177-3AD203B41FA5}">
                      <a16:colId xmlns:a16="http://schemas.microsoft.com/office/drawing/2014/main" val="20000"/>
                    </a:ext>
                  </a:extLst>
                </a:gridCol>
                <a:gridCol w="6286875">
                  <a:extLst>
                    <a:ext uri="{9D8B030D-6E8A-4147-A177-3AD203B41FA5}">
                      <a16:colId xmlns:a16="http://schemas.microsoft.com/office/drawing/2014/main" val="20001"/>
                    </a:ext>
                  </a:extLst>
                </a:gridCol>
              </a:tblGrid>
              <a:tr h="0">
                <a:tc>
                  <a:txBody>
                    <a:bodyPr/>
                    <a:lstStyle/>
                    <a:p>
                      <a:pPr marL="0" lvl="0" indent="0" algn="l" rtl="0">
                        <a:spcBef>
                          <a:spcPts val="0"/>
                        </a:spcBef>
                        <a:spcAft>
                          <a:spcPts val="0"/>
                        </a:spcAft>
                        <a:buNone/>
                      </a:pPr>
                      <a:r>
                        <a:rPr lang="en">
                          <a:solidFill>
                            <a:srgbClr val="188038"/>
                          </a:solidFill>
                          <a:latin typeface="Roboto Mono"/>
                          <a:ea typeface="Roboto Mono"/>
                          <a:cs typeface="Roboto Mono"/>
                          <a:sym typeface="Roboto Mono"/>
                        </a:rPr>
                        <a:t>/status</a:t>
                      </a:r>
                      <a:endParaRPr>
                        <a:solidFill>
                          <a:srgbClr val="188038"/>
                        </a:solidFill>
                        <a:latin typeface="Roboto Mono"/>
                        <a:ea typeface="Roboto Mono"/>
                        <a:cs typeface="Roboto Mono"/>
                        <a:sym typeface="Roboto Mono"/>
                      </a:endParaRPr>
                    </a:p>
                  </a:txBody>
                  <a:tcPr marL="91425" marR="91425" marT="91425" marB="91425"/>
                </a:tc>
                <a:tc>
                  <a:txBody>
                    <a:bodyPr/>
                    <a:lstStyle/>
                    <a:p>
                      <a:pPr marL="0" lvl="0" indent="0" algn="l" rtl="0">
                        <a:spcBef>
                          <a:spcPts val="0"/>
                        </a:spcBef>
                        <a:spcAft>
                          <a:spcPts val="0"/>
                        </a:spcAft>
                        <a:buNone/>
                      </a:pPr>
                      <a:r>
                        <a:rPr lang="en" sz="1700"/>
                        <a:t>Check your current session/usage information</a:t>
                      </a:r>
                      <a:endParaRPr sz="1700"/>
                    </a:p>
                  </a:txBody>
                  <a:tcPr marL="91425" marR="91425" marT="91425" marB="91425"/>
                </a:tc>
                <a:extLst>
                  <a:ext uri="{0D108BD9-81ED-4DB2-BD59-A6C34878D82A}">
                    <a16:rowId xmlns:a16="http://schemas.microsoft.com/office/drawing/2014/main" val="10000"/>
                  </a:ext>
                </a:extLst>
              </a:tr>
              <a:tr h="0">
                <a:tc>
                  <a:txBody>
                    <a:bodyPr/>
                    <a:lstStyle/>
                    <a:p>
                      <a:pPr marL="0" lvl="0" indent="0" algn="l" rtl="0">
                        <a:spcBef>
                          <a:spcPts val="0"/>
                        </a:spcBef>
                        <a:spcAft>
                          <a:spcPts val="0"/>
                        </a:spcAft>
                        <a:buNone/>
                      </a:pPr>
                      <a:r>
                        <a:rPr lang="en">
                          <a:solidFill>
                            <a:srgbClr val="188038"/>
                          </a:solidFill>
                          <a:latin typeface="Roboto Mono"/>
                          <a:ea typeface="Roboto Mono"/>
                          <a:cs typeface="Roboto Mono"/>
                          <a:sym typeface="Roboto Mono"/>
                        </a:rPr>
                        <a:t>/model</a:t>
                      </a:r>
                      <a:endParaRPr>
                        <a:solidFill>
                          <a:srgbClr val="188038"/>
                        </a:solidFill>
                        <a:latin typeface="Roboto Mono"/>
                        <a:ea typeface="Roboto Mono"/>
                        <a:cs typeface="Roboto Mono"/>
                        <a:sym typeface="Roboto Mono"/>
                      </a:endParaRPr>
                    </a:p>
                  </a:txBody>
                  <a:tcPr marL="91425" marR="91425" marT="91425" marB="91425"/>
                </a:tc>
                <a:tc>
                  <a:txBody>
                    <a:bodyPr/>
                    <a:lstStyle/>
                    <a:p>
                      <a:pPr marL="0" lvl="0" indent="0" algn="l" rtl="0">
                        <a:spcBef>
                          <a:spcPts val="0"/>
                        </a:spcBef>
                        <a:spcAft>
                          <a:spcPts val="0"/>
                        </a:spcAft>
                        <a:buNone/>
                      </a:pPr>
                      <a:r>
                        <a:rPr lang="en" sz="1700"/>
                        <a:t>View or change the model/settings available to you</a:t>
                      </a:r>
                      <a:endParaRPr sz="1700"/>
                    </a:p>
                  </a:txBody>
                  <a:tcPr marL="91425" marR="91425" marT="91425" marB="91425"/>
                </a:tc>
                <a:extLst>
                  <a:ext uri="{0D108BD9-81ED-4DB2-BD59-A6C34878D82A}">
                    <a16:rowId xmlns:a16="http://schemas.microsoft.com/office/drawing/2014/main" val="10001"/>
                  </a:ext>
                </a:extLst>
              </a:tr>
              <a:tr h="0">
                <a:tc>
                  <a:txBody>
                    <a:bodyPr/>
                    <a:lstStyle/>
                    <a:p>
                      <a:pPr marL="0" lvl="0" indent="0" algn="l" rtl="0">
                        <a:spcBef>
                          <a:spcPts val="0"/>
                        </a:spcBef>
                        <a:spcAft>
                          <a:spcPts val="0"/>
                        </a:spcAft>
                        <a:buNone/>
                      </a:pPr>
                      <a:r>
                        <a:rPr lang="en">
                          <a:solidFill>
                            <a:srgbClr val="188038"/>
                          </a:solidFill>
                          <a:latin typeface="Roboto Mono"/>
                          <a:ea typeface="Roboto Mono"/>
                          <a:cs typeface="Roboto Mono"/>
                          <a:sym typeface="Roboto Mono"/>
                        </a:rPr>
                        <a:t>/plan</a:t>
                      </a:r>
                      <a:endParaRPr>
                        <a:solidFill>
                          <a:srgbClr val="188038"/>
                        </a:solidFill>
                        <a:latin typeface="Roboto Mono"/>
                        <a:ea typeface="Roboto Mono"/>
                        <a:cs typeface="Roboto Mono"/>
                        <a:sym typeface="Roboto Mono"/>
                      </a:endParaRPr>
                    </a:p>
                  </a:txBody>
                  <a:tcPr marL="91425" marR="91425" marT="91425" marB="91425"/>
                </a:tc>
                <a:tc>
                  <a:txBody>
                    <a:bodyPr/>
                    <a:lstStyle/>
                    <a:p>
                      <a:pPr marL="0" lvl="0" indent="0" algn="l" rtl="0">
                        <a:spcBef>
                          <a:spcPts val="0"/>
                        </a:spcBef>
                        <a:spcAft>
                          <a:spcPts val="0"/>
                        </a:spcAft>
                        <a:buNone/>
                      </a:pPr>
                      <a:r>
                        <a:rPr lang="en" sz="1700"/>
                        <a:t>Have Codex plan the work before making changes</a:t>
                      </a:r>
                      <a:endParaRPr sz="1700"/>
                    </a:p>
                  </a:txBody>
                  <a:tcPr marL="91425" marR="91425" marT="91425" marB="91425"/>
                </a:tc>
                <a:extLst>
                  <a:ext uri="{0D108BD9-81ED-4DB2-BD59-A6C34878D82A}">
                    <a16:rowId xmlns:a16="http://schemas.microsoft.com/office/drawing/2014/main" val="10002"/>
                  </a:ext>
                </a:extLst>
              </a:tr>
              <a:tr h="0">
                <a:tc>
                  <a:txBody>
                    <a:bodyPr/>
                    <a:lstStyle/>
                    <a:p>
                      <a:pPr marL="0" lvl="0" indent="0" algn="l" rtl="0">
                        <a:spcBef>
                          <a:spcPts val="0"/>
                        </a:spcBef>
                        <a:spcAft>
                          <a:spcPts val="0"/>
                        </a:spcAft>
                        <a:buNone/>
                      </a:pPr>
                      <a:r>
                        <a:rPr lang="en">
                          <a:solidFill>
                            <a:srgbClr val="188038"/>
                          </a:solidFill>
                          <a:latin typeface="Roboto Mono"/>
                          <a:ea typeface="Roboto Mono"/>
                          <a:cs typeface="Roboto Mono"/>
                          <a:sym typeface="Roboto Mono"/>
                        </a:rPr>
                        <a:t>/review</a:t>
                      </a:r>
                      <a:endParaRPr>
                        <a:solidFill>
                          <a:srgbClr val="188038"/>
                        </a:solidFill>
                        <a:latin typeface="Roboto Mono"/>
                        <a:ea typeface="Roboto Mono"/>
                        <a:cs typeface="Roboto Mono"/>
                        <a:sym typeface="Roboto Mono"/>
                      </a:endParaRPr>
                    </a:p>
                  </a:txBody>
                  <a:tcPr marL="91425" marR="91425" marT="91425" marB="91425"/>
                </a:tc>
                <a:tc>
                  <a:txBody>
                    <a:bodyPr/>
                    <a:lstStyle/>
                    <a:p>
                      <a:pPr marL="0" lvl="0" indent="0" algn="l" rtl="0">
                        <a:spcBef>
                          <a:spcPts val="0"/>
                        </a:spcBef>
                        <a:spcAft>
                          <a:spcPts val="0"/>
                        </a:spcAft>
                        <a:buNone/>
                      </a:pPr>
                      <a:r>
                        <a:rPr lang="en" sz="1700"/>
                        <a:t>Ask Codex to review code/changes</a:t>
                      </a:r>
                      <a:endParaRPr sz="1700"/>
                    </a:p>
                  </a:txBody>
                  <a:tcPr marL="91425" marR="91425" marT="91425" marB="91425"/>
                </a:tc>
                <a:extLst>
                  <a:ext uri="{0D108BD9-81ED-4DB2-BD59-A6C34878D82A}">
                    <a16:rowId xmlns:a16="http://schemas.microsoft.com/office/drawing/2014/main" val="10003"/>
                  </a:ext>
                </a:extLst>
              </a:tr>
              <a:tr h="0">
                <a:tc>
                  <a:txBody>
                    <a:bodyPr/>
                    <a:lstStyle/>
                    <a:p>
                      <a:pPr marL="0" lvl="0" indent="0" algn="l" rtl="0">
                        <a:spcBef>
                          <a:spcPts val="0"/>
                        </a:spcBef>
                        <a:spcAft>
                          <a:spcPts val="0"/>
                        </a:spcAft>
                        <a:buNone/>
                      </a:pPr>
                      <a:r>
                        <a:rPr lang="en">
                          <a:solidFill>
                            <a:srgbClr val="188038"/>
                          </a:solidFill>
                          <a:latin typeface="Roboto Mono"/>
                          <a:ea typeface="Roboto Mono"/>
                          <a:cs typeface="Roboto Mono"/>
                          <a:sym typeface="Roboto Mono"/>
                        </a:rPr>
                        <a:t>/goal</a:t>
                      </a:r>
                      <a:endParaRPr>
                        <a:solidFill>
                          <a:srgbClr val="188038"/>
                        </a:solidFill>
                        <a:latin typeface="Roboto Mono"/>
                        <a:ea typeface="Roboto Mono"/>
                        <a:cs typeface="Roboto Mono"/>
                        <a:sym typeface="Roboto Mono"/>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700">
                          <a:solidFill>
                            <a:schemeClr val="dk1"/>
                          </a:solidFill>
                        </a:rPr>
                        <a:t>Keep working toward an outcome</a:t>
                      </a:r>
                      <a:endParaRPr sz="1700"/>
                    </a:p>
                  </a:txBody>
                  <a:tcPr marL="91425" marR="91425" marT="91425" marB="91425"/>
                </a:tc>
                <a:extLst>
                  <a:ext uri="{0D108BD9-81ED-4DB2-BD59-A6C34878D82A}">
                    <a16:rowId xmlns:a16="http://schemas.microsoft.com/office/drawing/2014/main" val="10004"/>
                  </a:ext>
                </a:extLst>
              </a:tr>
              <a:tr h="0">
                <a:tc>
                  <a:txBody>
                    <a:bodyPr/>
                    <a:lstStyle/>
                    <a:p>
                      <a:pPr marL="0" lvl="0" indent="0" algn="l" rtl="0">
                        <a:spcBef>
                          <a:spcPts val="0"/>
                        </a:spcBef>
                        <a:spcAft>
                          <a:spcPts val="0"/>
                        </a:spcAft>
                        <a:buNone/>
                      </a:pPr>
                      <a:r>
                        <a:rPr lang="en">
                          <a:solidFill>
                            <a:srgbClr val="188038"/>
                          </a:solidFill>
                          <a:latin typeface="Roboto Mono"/>
                          <a:ea typeface="Roboto Mono"/>
                          <a:cs typeface="Roboto Mono"/>
                          <a:sym typeface="Roboto Mono"/>
                        </a:rPr>
                        <a:t>/clear</a:t>
                      </a: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endParaRPr>
                        <a:solidFill>
                          <a:srgbClr val="188038"/>
                        </a:solidFill>
                        <a:latin typeface="Roboto Mono"/>
                        <a:ea typeface="Roboto Mono"/>
                        <a:cs typeface="Roboto Mono"/>
                        <a:sym typeface="Roboto Mono"/>
                      </a:endParaRPr>
                    </a:p>
                    <a:p>
                      <a:pPr marL="0" lvl="0" indent="0" algn="l" rtl="0">
                        <a:spcBef>
                          <a:spcPts val="0"/>
                        </a:spcBef>
                        <a:spcAft>
                          <a:spcPts val="0"/>
                        </a:spcAft>
                        <a:buNone/>
                      </a:pPr>
                      <a:endParaRPr>
                        <a:solidFill>
                          <a:srgbClr val="188038"/>
                        </a:solidFill>
                        <a:latin typeface="Roboto Mono"/>
                        <a:ea typeface="Roboto Mono"/>
                        <a:cs typeface="Roboto Mono"/>
                        <a:sym typeface="Roboto Mono"/>
                      </a:endParaRPr>
                    </a:p>
                  </a:txBody>
                  <a:tcPr marL="91425" marR="91425" marT="91425" marB="91425"/>
                </a:tc>
                <a:tc>
                  <a:txBody>
                    <a:bodyPr/>
                    <a:lstStyle/>
                    <a:p>
                      <a:pPr marL="0" lvl="0" indent="0" algn="l" rtl="0">
                        <a:spcBef>
                          <a:spcPts val="0"/>
                        </a:spcBef>
                        <a:spcAft>
                          <a:spcPts val="0"/>
                        </a:spcAft>
                        <a:buNone/>
                      </a:pPr>
                      <a:r>
                        <a:rPr lang="en" sz="1700"/>
                        <a:t>Start with a clean conversation</a:t>
                      </a:r>
                      <a:endParaRPr sz="1700"/>
                    </a:p>
                    <a:p>
                      <a:pPr marL="0" lvl="0" indent="0" algn="l" rtl="0">
                        <a:spcBef>
                          <a:spcPts val="0"/>
                        </a:spcBef>
                        <a:spcAft>
                          <a:spcPts val="0"/>
                        </a:spcAft>
                        <a:buNone/>
                      </a:pPr>
                      <a:endParaRPr sz="1700"/>
                    </a:p>
                  </a:txBody>
                  <a:tcPr marL="91425" marR="91425" marT="91425" marB="91425"/>
                </a:tc>
                <a:extLst>
                  <a:ext uri="{0D108BD9-81ED-4DB2-BD59-A6C34878D82A}">
                    <a16:rowId xmlns:a16="http://schemas.microsoft.com/office/drawing/2014/main" val="10005"/>
                  </a:ext>
                </a:extLst>
              </a:tr>
            </a:tbl>
          </a:graphicData>
        </a:graphic>
      </p:graphicFrame>
      <p:sp>
        <p:nvSpPr>
          <p:cNvPr id="161" name="Google Shape;161;p24"/>
          <p:cNvSpPr txBox="1"/>
          <p:nvPr/>
        </p:nvSpPr>
        <p:spPr>
          <a:xfrm>
            <a:off x="249475" y="3837236"/>
            <a:ext cx="8652000" cy="123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chemeClr val="dk1"/>
                </a:solidFill>
              </a:rPr>
              <a:t>→ If you don’t see the code panels, then ask “Open index.html, main.css, app.js, so I can review the code.” or “Show me the main code files.”</a:t>
            </a:r>
            <a:endParaRPr sz="1700">
              <a:solidFill>
                <a:schemeClr val="dk1"/>
              </a:solidFill>
            </a:endParaRPr>
          </a:p>
          <a:p>
            <a:pPr marL="0" lvl="0" indent="0" algn="l" rtl="0">
              <a:spcBef>
                <a:spcPts val="0"/>
              </a:spcBef>
              <a:spcAft>
                <a:spcPts val="0"/>
              </a:spcAft>
              <a:buNone/>
            </a:pPr>
            <a:endParaRPr sz="1700">
              <a:solidFill>
                <a:schemeClr val="dk1"/>
              </a:solidFill>
            </a:endParaRPr>
          </a:p>
          <a:p>
            <a:pPr marL="0" lvl="0" indent="0" algn="l" rtl="0">
              <a:spcBef>
                <a:spcPts val="0"/>
              </a:spcBef>
              <a:spcAft>
                <a:spcPts val="0"/>
              </a:spcAft>
              <a:buNone/>
            </a:pPr>
            <a:r>
              <a:rPr lang="en" sz="1700">
                <a:solidFill>
                  <a:schemeClr val="dk1"/>
                </a:solidFill>
              </a:rPr>
              <a:t>→  Command + Shift + B to view the browser</a:t>
            </a:r>
            <a:endParaRPr sz="17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9CB9C"/>
        </a:solidFill>
        <a:effectLst/>
      </p:bgPr>
    </p:bg>
    <p:spTree>
      <p:nvGrpSpPr>
        <p:cNvPr id="1" name="Shape 165"/>
        <p:cNvGrpSpPr/>
        <p:nvPr/>
      </p:nvGrpSpPr>
      <p:grpSpPr>
        <a:xfrm>
          <a:off x="0" y="0"/>
          <a:ext cx="0" cy="0"/>
          <a:chOff x="0" y="0"/>
          <a:chExt cx="0" cy="0"/>
        </a:xfrm>
      </p:grpSpPr>
      <p:sp>
        <p:nvSpPr>
          <p:cNvPr id="166" name="Google Shape;166;p25"/>
          <p:cNvSpPr txBox="1">
            <a:spLocks noGrp="1"/>
          </p:cNvSpPr>
          <p:nvPr>
            <p:ph type="ctrTitle"/>
          </p:nvPr>
        </p:nvSpPr>
        <p:spPr>
          <a:xfrm>
            <a:off x="624800" y="375025"/>
            <a:ext cx="7376100" cy="515700"/>
          </a:xfrm>
          <a:prstGeom prst="rect">
            <a:avLst/>
          </a:prstGeom>
          <a:noFill/>
          <a:ln>
            <a:noFill/>
          </a:ln>
        </p:spPr>
        <p:txBody>
          <a:bodyPr spcFirstLastPara="1" wrap="square" lIns="68575" tIns="34275" rIns="68575" bIns="34275" anchor="ctr" anchorCtr="0">
            <a:spAutoFit/>
          </a:bodyPr>
          <a:lstStyle/>
          <a:p>
            <a:pPr marL="0" marR="0" lvl="0" indent="0" algn="l" rtl="0">
              <a:lnSpc>
                <a:spcPct val="100000"/>
              </a:lnSpc>
              <a:spcBef>
                <a:spcPts val="0"/>
              </a:spcBef>
              <a:spcAft>
                <a:spcPts val="0"/>
              </a:spcAft>
              <a:buClr>
                <a:schemeClr val="dk2"/>
              </a:buClr>
              <a:buSzPts val="2500"/>
              <a:buFont typeface="Arial"/>
              <a:buNone/>
            </a:pPr>
            <a:r>
              <a:rPr lang="en" sz="2900" b="1">
                <a:latin typeface="Calibri"/>
                <a:ea typeface="Calibri"/>
                <a:cs typeface="Calibri"/>
                <a:sym typeface="Calibri"/>
              </a:rPr>
              <a:t>Activity 2 - Ridiculous Future Predictions</a:t>
            </a:r>
            <a:endParaRPr sz="2900" b="1">
              <a:latin typeface="Calibri"/>
              <a:ea typeface="Calibri"/>
              <a:cs typeface="Calibri"/>
              <a:sym typeface="Calibri"/>
            </a:endParaRPr>
          </a:p>
        </p:txBody>
      </p:sp>
      <p:sp>
        <p:nvSpPr>
          <p:cNvPr id="167" name="Google Shape;167;p25"/>
          <p:cNvSpPr txBox="1"/>
          <p:nvPr/>
        </p:nvSpPr>
        <p:spPr>
          <a:xfrm>
            <a:off x="380982" y="999582"/>
            <a:ext cx="8236800" cy="3664200"/>
          </a:xfrm>
          <a:prstGeom prst="rect">
            <a:avLst/>
          </a:prstGeom>
          <a:noFill/>
          <a:ln>
            <a:noFill/>
          </a:ln>
        </p:spPr>
        <p:txBody>
          <a:bodyPr spcFirstLastPara="1" wrap="square" lIns="91425" tIns="91425" rIns="91425" bIns="91425" anchor="t" anchorCtr="0">
            <a:spAutoFit/>
          </a:bodyPr>
          <a:lstStyle/>
          <a:p>
            <a:pPr marL="457200" lvl="0" indent="-298450" algn="l" rtl="0">
              <a:lnSpc>
                <a:spcPct val="115000"/>
              </a:lnSpc>
              <a:spcBef>
                <a:spcPts val="1200"/>
              </a:spcBef>
              <a:spcAft>
                <a:spcPts val="0"/>
              </a:spcAft>
              <a:buClr>
                <a:schemeClr val="dk1"/>
              </a:buClr>
              <a:buSzPts val="1100"/>
              <a:buAutoNum type="arabicPeriod"/>
            </a:pPr>
            <a:r>
              <a:rPr lang="en" sz="1100" b="1">
                <a:solidFill>
                  <a:schemeClr val="dk1"/>
                </a:solidFill>
              </a:rPr>
              <a:t>Discuss your idea as a team.</a:t>
            </a:r>
            <a:br>
              <a:rPr lang="en" sz="1100" b="1">
                <a:solidFill>
                  <a:schemeClr val="dk1"/>
                </a:solidFill>
              </a:rPr>
            </a:br>
            <a:r>
              <a:rPr lang="en" sz="1100">
                <a:solidFill>
                  <a:schemeClr val="dk1"/>
                </a:solidFill>
              </a:rPr>
              <a:t> What kind of future prediction experience do you want to create?</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b="1">
                <a:solidFill>
                  <a:schemeClr val="dk1"/>
                </a:solidFill>
              </a:rPr>
              <a:t>Write your own prompt for Codex.</a:t>
            </a:r>
            <a:br>
              <a:rPr lang="en" sz="1100" b="1">
                <a:solidFill>
                  <a:schemeClr val="dk1"/>
                </a:solidFill>
              </a:rPr>
            </a:br>
            <a:r>
              <a:rPr lang="en" sz="1100">
                <a:solidFill>
                  <a:schemeClr val="dk1"/>
                </a:solidFill>
              </a:rPr>
              <a:t> Don't copy another team's prompt. Decide what details you think Codex needs.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b="1">
                <a:solidFill>
                  <a:schemeClr val="dk1"/>
                </a:solidFill>
              </a:rPr>
              <a:t>Give your prompt to Codex and let it build.</a:t>
            </a:r>
            <a:br>
              <a:rPr lang="en" sz="1100" b="1">
                <a:solidFill>
                  <a:schemeClr val="dk1"/>
                </a:solidFill>
              </a:rPr>
            </a:br>
            <a:r>
              <a:rPr lang="en" sz="1100">
                <a:solidFill>
                  <a:schemeClr val="dk1"/>
                </a:solidFill>
              </a:rPr>
              <a:t> Run the result and see what you get.</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b="1">
                <a:solidFill>
                  <a:schemeClr val="dk1"/>
                </a:solidFill>
              </a:rPr>
              <a:t>Test it.</a:t>
            </a:r>
            <a:br>
              <a:rPr lang="en" sz="1100" b="1">
                <a:solidFill>
                  <a:schemeClr val="dk1"/>
                </a:solidFill>
              </a:rPr>
            </a:br>
            <a:r>
              <a:rPr lang="en" sz="1100">
                <a:solidFill>
                  <a:schemeClr val="dk1"/>
                </a:solidFill>
              </a:rPr>
              <a:t> Enter your names and try several predictions.</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b="1">
                <a:solidFill>
                  <a:schemeClr val="dk1"/>
                </a:solidFill>
              </a:rPr>
              <a:t>Iterate.</a:t>
            </a:r>
            <a:br>
              <a:rPr lang="en" sz="1100" b="1">
                <a:solidFill>
                  <a:schemeClr val="dk1"/>
                </a:solidFill>
              </a:rPr>
            </a:br>
            <a:r>
              <a:rPr lang="en" sz="1100">
                <a:solidFill>
                  <a:schemeClr val="dk1"/>
                </a:solidFill>
              </a:rPr>
              <a:t> Ask Codex to make </a:t>
            </a:r>
            <a:r>
              <a:rPr lang="en" sz="1100" b="1">
                <a:solidFill>
                  <a:schemeClr val="dk1"/>
                </a:solidFill>
              </a:rPr>
              <a:t>at least 2 changes</a:t>
            </a:r>
            <a:r>
              <a:rPr lang="en" sz="1100">
                <a:solidFill>
                  <a:schemeClr val="dk1"/>
                </a:solidFill>
              </a:rPr>
              <a:t> based on what your team likes or doesn't like.</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b="1">
                <a:solidFill>
                  <a:schemeClr val="dk1"/>
                </a:solidFill>
              </a:rPr>
              <a:t>Make it yours.</a:t>
            </a:r>
            <a:br>
              <a:rPr lang="en" sz="1100" b="1">
                <a:solidFill>
                  <a:schemeClr val="dk1"/>
                </a:solidFill>
              </a:rPr>
            </a:br>
            <a:r>
              <a:rPr lang="en" sz="1100">
                <a:solidFill>
                  <a:schemeClr val="dk1"/>
                </a:solidFill>
              </a:rPr>
              <a:t> Add at least </a:t>
            </a:r>
            <a:r>
              <a:rPr lang="en" sz="1100" b="1">
                <a:solidFill>
                  <a:schemeClr val="dk1"/>
                </a:solidFill>
              </a:rPr>
              <a:t>one idea that your team came up with</a:t>
            </a:r>
            <a:r>
              <a:rPr lang="en" sz="1100">
                <a:solidFill>
                  <a:schemeClr val="dk1"/>
                </a:solidFill>
              </a:rPr>
              <a:t>, not something suggested by Codex.</a:t>
            </a:r>
            <a:endParaRPr sz="1100">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en" sz="1100" b="1">
                <a:solidFill>
                  <a:schemeClr val="dk1"/>
                </a:solidFill>
              </a:rPr>
              <a:t>Share your result.</a:t>
            </a:r>
            <a:br>
              <a:rPr lang="en" sz="1100" b="1">
                <a:solidFill>
                  <a:schemeClr val="dk1"/>
                </a:solidFill>
              </a:rPr>
            </a:br>
            <a:r>
              <a:rPr lang="en" sz="1100">
                <a:solidFill>
                  <a:schemeClr val="dk1"/>
                </a:solidFill>
              </a:rPr>
              <a:t> Show the class:</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Your final prediction machine</a:t>
            </a:r>
            <a:endParaRPr sz="1100">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Your </a:t>
            </a:r>
            <a:r>
              <a:rPr lang="en" sz="1100" b="1">
                <a:solidFill>
                  <a:schemeClr val="dk1"/>
                </a:solidFill>
              </a:rPr>
              <a:t>original prompt</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One </a:t>
            </a:r>
            <a:r>
              <a:rPr lang="en" sz="1100" b="1">
                <a:solidFill>
                  <a:schemeClr val="dk1"/>
                </a:solidFill>
              </a:rPr>
              <a:t>follow-up prompt</a:t>
            </a:r>
            <a:endParaRPr sz="1100" b="1">
              <a:solidFill>
                <a:schemeClr val="dk1"/>
              </a:solidFill>
            </a:endParaRPr>
          </a:p>
          <a:p>
            <a:pPr marL="914400" lvl="1" indent="-298450" algn="l" rtl="0">
              <a:lnSpc>
                <a:spcPct val="115000"/>
              </a:lnSpc>
              <a:spcBef>
                <a:spcPts val="0"/>
              </a:spcBef>
              <a:spcAft>
                <a:spcPts val="0"/>
              </a:spcAft>
              <a:buClr>
                <a:schemeClr val="dk1"/>
              </a:buClr>
              <a:buSzPts val="1100"/>
              <a:buChar char="○"/>
            </a:pPr>
            <a:r>
              <a:rPr lang="en" sz="1100">
                <a:solidFill>
                  <a:schemeClr val="dk1"/>
                </a:solidFill>
              </a:rPr>
              <a:t>Something unexpected Codex did</a:t>
            </a:r>
            <a:endParaRPr sz="1100">
              <a:solidFill>
                <a:schemeClr val="dk1"/>
              </a:solidFill>
            </a:endParaRPr>
          </a:p>
        </p:txBody>
      </p:sp>
      <p:pic>
        <p:nvPicPr>
          <p:cNvPr id="168" name="Google Shape;168;p25" title="future.png"/>
          <p:cNvPicPr preferRelativeResize="0"/>
          <p:nvPr/>
        </p:nvPicPr>
        <p:blipFill>
          <a:blip r:embed="rId3">
            <a:alphaModFix/>
          </a:blip>
          <a:stretch>
            <a:fillRect/>
          </a:stretch>
        </p:blipFill>
        <p:spPr>
          <a:xfrm>
            <a:off x="6930550" y="2772350"/>
            <a:ext cx="1891424" cy="1891424"/>
          </a:xfrm>
          <a:prstGeom prst="rect">
            <a:avLst/>
          </a:prstGeom>
          <a:noFill/>
          <a:ln>
            <a:noFill/>
          </a:ln>
        </p:spPr>
      </p:pic>
      <p:sp>
        <p:nvSpPr>
          <p:cNvPr id="169" name="Google Shape;169;p25"/>
          <p:cNvSpPr txBox="1"/>
          <p:nvPr/>
        </p:nvSpPr>
        <p:spPr>
          <a:xfrm>
            <a:off x="6899920" y="4595732"/>
            <a:ext cx="20910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chemeClr val="dk2"/>
                </a:solidFill>
                <a:latin typeface="Calibri"/>
                <a:ea typeface="Calibri"/>
                <a:cs typeface="Calibri"/>
                <a:sym typeface="Calibri"/>
              </a:rPr>
              <a:t>Created by chatgpt</a:t>
            </a:r>
            <a:endParaRPr sz="900">
              <a:solidFill>
                <a:schemeClr val="dk2"/>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9D2E9"/>
        </a:solidFill>
        <a:effectLst/>
      </p:bgPr>
    </p:bg>
    <p:spTree>
      <p:nvGrpSpPr>
        <p:cNvPr id="1" name="Shape 173"/>
        <p:cNvGrpSpPr/>
        <p:nvPr/>
      </p:nvGrpSpPr>
      <p:grpSpPr>
        <a:xfrm>
          <a:off x="0" y="0"/>
          <a:ext cx="0" cy="0"/>
          <a:chOff x="0" y="0"/>
          <a:chExt cx="0" cy="0"/>
        </a:xfrm>
      </p:grpSpPr>
      <p:sp>
        <p:nvSpPr>
          <p:cNvPr id="174" name="Google Shape;174;p26"/>
          <p:cNvSpPr txBox="1">
            <a:spLocks noGrp="1"/>
          </p:cNvSpPr>
          <p:nvPr>
            <p:ph type="ctrTitle"/>
          </p:nvPr>
        </p:nvSpPr>
        <p:spPr>
          <a:xfrm>
            <a:off x="624800" y="375025"/>
            <a:ext cx="7376100" cy="515700"/>
          </a:xfrm>
          <a:prstGeom prst="rect">
            <a:avLst/>
          </a:prstGeom>
          <a:noFill/>
          <a:ln>
            <a:noFill/>
          </a:ln>
        </p:spPr>
        <p:txBody>
          <a:bodyPr spcFirstLastPara="1" wrap="square" lIns="68575" tIns="34275" rIns="68575" bIns="34275" anchor="ctr" anchorCtr="0">
            <a:spAutoFit/>
          </a:bodyPr>
          <a:lstStyle/>
          <a:p>
            <a:pPr marL="0" marR="0" lvl="0" indent="0" algn="l" rtl="0">
              <a:lnSpc>
                <a:spcPct val="100000"/>
              </a:lnSpc>
              <a:spcBef>
                <a:spcPts val="0"/>
              </a:spcBef>
              <a:spcAft>
                <a:spcPts val="0"/>
              </a:spcAft>
              <a:buClr>
                <a:schemeClr val="dk2"/>
              </a:buClr>
              <a:buSzPts val="2500"/>
              <a:buFont typeface="Arial"/>
              <a:buNone/>
            </a:pPr>
            <a:r>
              <a:rPr lang="en" sz="2900" b="1">
                <a:latin typeface="Calibri"/>
                <a:ea typeface="Calibri"/>
                <a:cs typeface="Calibri"/>
                <a:sym typeface="Calibri"/>
              </a:rPr>
              <a:t>Next Week</a:t>
            </a:r>
            <a:endParaRPr sz="2900" b="1">
              <a:latin typeface="Calibri"/>
              <a:ea typeface="Calibri"/>
              <a:cs typeface="Calibri"/>
              <a:sym typeface="Calibri"/>
            </a:endParaRPr>
          </a:p>
        </p:txBody>
      </p:sp>
      <p:sp>
        <p:nvSpPr>
          <p:cNvPr id="175" name="Google Shape;175;p26"/>
          <p:cNvSpPr/>
          <p:nvPr/>
        </p:nvSpPr>
        <p:spPr>
          <a:xfrm>
            <a:off x="419410" y="1163690"/>
            <a:ext cx="8376600" cy="1685100"/>
          </a:xfrm>
          <a:prstGeom prst="rect">
            <a:avLst/>
          </a:prstGeom>
          <a:noFill/>
          <a:ln>
            <a:noFill/>
          </a:ln>
        </p:spPr>
        <p:txBody>
          <a:bodyPr spcFirstLastPara="1" wrap="square" lIns="68575" tIns="34275" rIns="68575" bIns="34275" anchor="t" anchorCtr="0">
            <a:noAutofit/>
          </a:bodyPr>
          <a:lstStyle/>
          <a:p>
            <a:pPr marL="457200" lvl="0" indent="-355600" algn="l" rtl="0">
              <a:lnSpc>
                <a:spcPct val="115000"/>
              </a:lnSpc>
              <a:spcBef>
                <a:spcPts val="1200"/>
              </a:spcBef>
              <a:spcAft>
                <a:spcPts val="0"/>
              </a:spcAft>
              <a:buClr>
                <a:schemeClr val="dk1"/>
              </a:buClr>
              <a:buSzPts val="2000"/>
              <a:buChar char="❖"/>
            </a:pPr>
            <a:r>
              <a:rPr lang="en" sz="2000">
                <a:solidFill>
                  <a:schemeClr val="dk1"/>
                </a:solidFill>
              </a:rPr>
              <a:t>Watch Dr. Kuwata’s videos to set up </a:t>
            </a:r>
            <a:r>
              <a:rPr lang="en" sz="2000" b="1">
                <a:solidFill>
                  <a:schemeClr val="dk1"/>
                </a:solidFill>
              </a:rPr>
              <a:t>Codex</a:t>
            </a:r>
            <a:r>
              <a:rPr lang="en" sz="2000">
                <a:solidFill>
                  <a:schemeClr val="dk1"/>
                </a:solidFill>
              </a:rPr>
              <a:t> + </a:t>
            </a:r>
            <a:r>
              <a:rPr lang="en" sz="2000" b="1">
                <a:solidFill>
                  <a:schemeClr val="dk1"/>
                </a:solidFill>
              </a:rPr>
              <a:t>GitHub</a:t>
            </a:r>
            <a:br>
              <a:rPr lang="en"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No assignment this week</a:t>
            </a:r>
            <a:br>
              <a:rPr lang="en"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b="1">
                <a:solidFill>
                  <a:schemeClr val="dk1"/>
                </a:solidFill>
              </a:rPr>
              <a:t>Coming Up Next Week</a:t>
            </a:r>
            <a:r>
              <a:rPr lang="en" sz="2000">
                <a:solidFill>
                  <a:schemeClr val="dk1"/>
                </a:solidFill>
              </a:rPr>
              <a:t>: Code, Ethics in Programming and AI</a:t>
            </a:r>
            <a:br>
              <a:rPr lang="en" sz="2000">
                <a:solidFill>
                  <a:schemeClr val="dk1"/>
                </a:solidFill>
              </a:rPr>
            </a:br>
            <a:endParaRPr sz="2000">
              <a:solidFill>
                <a:schemeClr val="dk1"/>
              </a:solidFill>
            </a:endParaRPr>
          </a:p>
          <a:p>
            <a:pPr marL="457200" lvl="0" indent="-355600" algn="l" rtl="0">
              <a:lnSpc>
                <a:spcPct val="115000"/>
              </a:lnSpc>
              <a:spcBef>
                <a:spcPts val="0"/>
              </a:spcBef>
              <a:spcAft>
                <a:spcPts val="0"/>
              </a:spcAft>
              <a:buClr>
                <a:schemeClr val="dk1"/>
              </a:buClr>
              <a:buSzPts val="2000"/>
              <a:buChar char="❖"/>
            </a:pPr>
            <a:r>
              <a:rPr lang="en" sz="2000">
                <a:solidFill>
                  <a:schemeClr val="dk1"/>
                </a:solidFill>
              </a:rPr>
              <a:t>Wishing you a great start to the semester. Stay positive and enjoy!</a:t>
            </a:r>
            <a:endParaRPr sz="2000">
              <a:solidFill>
                <a:schemeClr val="dk1"/>
              </a:solidFill>
            </a:endParaRPr>
          </a:p>
          <a:p>
            <a:pPr marL="457200" marR="0" lvl="0" indent="0" algn="l" rtl="0">
              <a:lnSpc>
                <a:spcPct val="100000"/>
              </a:lnSpc>
              <a:spcBef>
                <a:spcPts val="1200"/>
              </a:spcBef>
              <a:spcAft>
                <a:spcPts val="0"/>
              </a:spcAft>
              <a:buNone/>
            </a:pPr>
            <a:endParaRPr sz="2000">
              <a:solidFill>
                <a:schemeClr val="dk1"/>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694</Words>
  <Application>Microsoft Macintosh PowerPoint</Application>
  <PresentationFormat>On-screen Show (16:9)</PresentationFormat>
  <Paragraphs>100</Paragraphs>
  <Slides>13</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Lexend Light</vt:lpstr>
      <vt:lpstr>Lexend</vt:lpstr>
      <vt:lpstr>Arial</vt:lpstr>
      <vt:lpstr>Roboto Mono</vt:lpstr>
      <vt:lpstr>Calibri</vt:lpstr>
      <vt:lpstr>Simple Light</vt:lpstr>
      <vt:lpstr>PowerPoint Presentation</vt:lpstr>
      <vt:lpstr>PowerPoint Presentation</vt:lpstr>
      <vt:lpstr>Syllabus Review</vt:lpstr>
      <vt:lpstr>Tools</vt:lpstr>
      <vt:lpstr>Figma Introduction</vt:lpstr>
      <vt:lpstr>      Introduction Name Program Coding experience Interest in this class PC or Mac  Group Discussion What is code to you? Why do you code? Why does it matter to society?  URL: https://shorturl.at/KdkLF  </vt:lpstr>
      <vt:lpstr>Functions</vt:lpstr>
      <vt:lpstr>Some of Core Qualities of Design</vt:lpstr>
      <vt:lpstr>Connect Codex to Github  </vt:lpstr>
      <vt:lpstr>CODEX Do’s &amp; Don’ts</vt:lpstr>
      <vt:lpstr>Useful shortcuts+</vt:lpstr>
      <vt:lpstr>Activity 2 - Ridiculous Future Predictions</vt:lpstr>
      <vt:lpstr>Next Week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Jeongin Park</cp:lastModifiedBy>
  <cp:revision>1</cp:revision>
  <dcterms:modified xsi:type="dcterms:W3CDTF">2026-09-10T20:41:18Z</dcterms:modified>
</cp:coreProperties>
</file>